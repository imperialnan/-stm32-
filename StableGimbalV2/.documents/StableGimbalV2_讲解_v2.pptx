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371600"/>
            <a:ext cx="9144000" cy="27432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50800" cy="2743200"/>
          </a:xfrm>
          <a:prstGeom prst="rect">
            <a:avLst/>
          </a:prstGeom>
          <a:solidFill>
            <a:srgbClr val="00D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0D9A6"/>
                </a:solidFill>
                <a:latin typeface="Arial Black" panose="020B0A04020102020204"/>
              </a:defRPr>
            </a:pPr>
            <a:r>
              <a:t>StableGimbalV2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6EDF3"/>
                </a:solidFill>
                <a:latin typeface="Arial" panose="020B0604020202020204"/>
              </a:defRPr>
            </a:pPr>
            <a:r>
              <a:t>三轴稳定云台 项目讲解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8803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49E"/>
                </a:solidFill>
                <a:latin typeface="Arial" panose="020B0604020202020204"/>
              </a:defRPr>
            </a:pPr>
            <a:r>
              <a:t>STM32F103C8T6  |  JY901S IMU  |  AX-12A 舵机  |  OV7725 摄像头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474720"/>
            <a:ext cx="1617980" cy="255905"/>
          </a:xfrm>
          <a:prstGeom prst="roundRect">
            <a:avLst/>
          </a:prstGeom>
          <a:solidFill>
            <a:srgbClr val="00D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100" b="1">
                <a:solidFill>
                  <a:srgbClr val="0D1117"/>
                </a:solidFill>
                <a:latin typeface="Arial" panose="020B0604020202020204"/>
              </a:defRPr>
            </a:pPr>
            <a:r>
              <a:rPr lang="zh-CN" altLang="en-US"/>
              <a:t>指导老师：</a:t>
            </a:r>
            <a:r>
              <a:rPr lang="zh-CN" altLang="en-US"/>
              <a:t>张鹏</a:t>
            </a:r>
            <a:endParaRPr lang="zh-CN" altLang="en-US"/>
          </a:p>
        </p:txBody>
      </p:sp>
      <p:sp>
        <p:nvSpPr>
          <p:cNvPr id="8" name="Rounded Rectangle 7"/>
          <p:cNvSpPr/>
          <p:nvPr/>
        </p:nvSpPr>
        <p:spPr>
          <a:xfrm>
            <a:off x="2927985" y="3474720"/>
            <a:ext cx="1644650" cy="255905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100" b="1">
                <a:solidFill>
                  <a:srgbClr val="0D1117"/>
                </a:solidFill>
                <a:latin typeface="Arial" panose="020B0604020202020204"/>
              </a:defRPr>
            </a:pPr>
            <a:r>
              <a:rPr lang="en-US"/>
              <a:t>2206040117</a:t>
            </a:r>
            <a:r>
              <a:rPr lang="zh-CN" altLang="en-US"/>
              <a:t>安</a:t>
            </a:r>
            <a:r>
              <a:rPr lang="zh-CN" altLang="en-US"/>
              <a:t>启超</a:t>
            </a:r>
            <a:endParaRPr lang="zh-CN" altLang="en-US"/>
          </a:p>
        </p:txBody>
      </p:sp>
      <p:sp>
        <p:nvSpPr>
          <p:cNvPr id="9" name="TextBox 8"/>
          <p:cNvSpPr txBox="1"/>
          <p:nvPr/>
        </p:nvSpPr>
        <p:spPr>
          <a:xfrm>
            <a:off x="8412480" y="48463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484F58"/>
                </a:solidFill>
                <a:latin typeface="Arial" panose="020B0604020202020204"/>
              </a:defRPr>
            </a:pPr>
            <a:r>
              <a:t>1 / 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6EDF3"/>
                </a:solidFill>
                <a:latin typeface="Arial" panose="020B0604020202020204"/>
              </a:defRPr>
            </a:pPr>
            <a:r>
              <a:t>项目总览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  <a:latin typeface="Arial" panose="020B0604020202020204"/>
              </a:defRPr>
            </a:pPr>
            <a:r>
              <a:t>Project Overview — 功能、目标与平台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9144000" cy="25400"/>
          </a:xfrm>
          <a:prstGeom prst="rect">
            <a:avLst/>
          </a:prstGeom>
          <a:solidFill>
            <a:srgbClr val="00D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051560"/>
            <a:ext cx="3931920" cy="822960"/>
          </a:xfrm>
          <a:prstGeom prst="roundRect">
            <a:avLst/>
          </a:prstGeom>
          <a:solidFill>
            <a:srgbClr val="1C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161288"/>
            <a:ext cx="548640" cy="256032"/>
          </a:xfrm>
          <a:prstGeom prst="roundRect">
            <a:avLst/>
          </a:prstGeom>
          <a:solidFill>
            <a:srgbClr val="00D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000" b="1">
                <a:solidFill>
                  <a:srgbClr val="0D1117"/>
                </a:solidFill>
                <a:latin typeface="Arial" panose="020B0604020202020204"/>
              </a:defRPr>
            </a:pPr>
            <a:r>
              <a:t>MCU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10972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EDF3"/>
                </a:solidFill>
                <a:latin typeface="Arial" panose="020B0604020202020204"/>
              </a:defRPr>
            </a:pPr>
            <a:r>
              <a:t>STM32F103C8T6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139903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949E"/>
                </a:solidFill>
                <a:latin typeface="Arial" panose="020B0604020202020204"/>
              </a:defRPr>
            </a:pPr>
            <a:r>
              <a:t>ARM Cortex-M3 内核</a:t>
            </a:r>
            <a:br/>
            <a:r>
              <a:t>72MHz 主频 / 64KB Flash / 20KB SRAM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011680"/>
            <a:ext cx="3931920" cy="822960"/>
          </a:xfrm>
          <a:prstGeom prst="roundRect">
            <a:avLst/>
          </a:prstGeom>
          <a:solidFill>
            <a:srgbClr val="1C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2121408"/>
            <a:ext cx="548640" cy="256032"/>
          </a:xfrm>
          <a:prstGeom prst="roundRect">
            <a:avLst/>
          </a:prstGeom>
          <a:solidFill>
            <a:srgbClr val="00D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000" b="1">
                <a:solidFill>
                  <a:srgbClr val="0D1117"/>
                </a:solidFill>
                <a:latin typeface="Arial" panose="020B0604020202020204"/>
              </a:defRPr>
            </a:pPr>
            <a:r>
              <a:t>IMU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2057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EDF3"/>
                </a:solidFill>
                <a:latin typeface="Arial" panose="020B0604020202020204"/>
              </a:defRPr>
            </a:pPr>
            <a:r>
              <a:t>JY901S 九轴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235915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949E"/>
                </a:solidFill>
                <a:latin typeface="Arial" panose="020B0604020202020204"/>
              </a:defRPr>
            </a:pPr>
            <a:r>
              <a:t>加速度计 + 陀螺仪 + 磁力计</a:t>
            </a:r>
            <a:br/>
            <a:r>
              <a:t>实时输出姿态角和角速度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971800"/>
            <a:ext cx="3931920" cy="822960"/>
          </a:xfrm>
          <a:prstGeom prst="roundRect">
            <a:avLst/>
          </a:prstGeom>
          <a:solidFill>
            <a:srgbClr val="1C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0080" y="3081528"/>
            <a:ext cx="457200" cy="256032"/>
          </a:xfrm>
          <a:prstGeom prst="roundRect">
            <a:avLst/>
          </a:prstGeom>
          <a:solidFill>
            <a:srgbClr val="00D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000" b="1">
                <a:solidFill>
                  <a:srgbClr val="0D1117"/>
                </a:solidFill>
                <a:latin typeface="Arial" panose="020B0604020202020204"/>
              </a:defRPr>
            </a:pPr>
            <a:r>
              <a:t>舵机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3017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EDF3"/>
                </a:solidFill>
                <a:latin typeface="Arial" panose="020B0604020202020204"/>
              </a:defRPr>
            </a:pPr>
            <a:r>
              <a:t>AX-12A ×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331927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949E"/>
                </a:solidFill>
                <a:latin typeface="Arial" panose="020B0604020202020204"/>
              </a:defRPr>
            </a:pPr>
            <a:r>
              <a:t>Dynamixel 总线舵机</a:t>
            </a:r>
            <a:br/>
            <a:r>
              <a:t>Pitch / Roll / Yaw 三轴驱动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931920"/>
            <a:ext cx="3931920" cy="822960"/>
          </a:xfrm>
          <a:prstGeom prst="roundRect">
            <a:avLst/>
          </a:prstGeom>
          <a:solidFill>
            <a:srgbClr val="1C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0080" y="4041648"/>
            <a:ext cx="548640" cy="256032"/>
          </a:xfrm>
          <a:prstGeom prst="roundRect">
            <a:avLst/>
          </a:prstGeom>
          <a:solidFill>
            <a:srgbClr val="00D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000" b="1">
                <a:solidFill>
                  <a:srgbClr val="0D1117"/>
                </a:solidFill>
                <a:latin typeface="Arial" panose="020B0604020202020204"/>
              </a:defRPr>
            </a:pPr>
            <a:r>
              <a:t>摄像头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39776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EDF3"/>
                </a:solidFill>
                <a:latin typeface="Arial" panose="020B0604020202020204"/>
              </a:defRPr>
            </a:pPr>
            <a:r>
              <a:t>OV7725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427939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949E"/>
                </a:solidFill>
                <a:latin typeface="Arial" panose="020B0604020202020204"/>
              </a:defRPr>
            </a:pPr>
            <a:r>
              <a:t>VGA/QVGA 图像传感器</a:t>
            </a:r>
            <a:br/>
            <a:r>
              <a:t>AL422B FIFO 缓冲 + LCD 显示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0" y="1051560"/>
            <a:ext cx="4114800" cy="384048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0" y="11887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9A6"/>
                </a:solidFill>
                <a:latin typeface="Arial" panose="020B0604020202020204"/>
              </a:defRPr>
            </a:pPr>
            <a:r>
              <a:t>功能概述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0" y="1554480"/>
            <a:ext cx="1371600" cy="38100"/>
          </a:xfrm>
          <a:prstGeom prst="rect">
            <a:avLst/>
          </a:prstGeom>
          <a:solidFill>
            <a:srgbClr val="00D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0" y="17830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6EDF3"/>
                </a:solidFill>
                <a:latin typeface="Arial" panose="020B0604020202020204"/>
              </a:defRPr>
            </a:pPr>
            <a:r>
              <a:t>▸  三轴 (Pitch / Roll / Yaw) 姿态稳定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0" y="216712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6EDF3"/>
                </a:solidFill>
                <a:latin typeface="Arial" panose="020B0604020202020204"/>
              </a:defRPr>
            </a:pPr>
            <a:r>
              <a:t>▸  JY901S 实时测量姿态角与角速度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0" y="2551176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6EDF3"/>
                </a:solidFill>
                <a:latin typeface="Arial" panose="020B0604020202020204"/>
              </a:defRPr>
            </a:pPr>
            <a:r>
              <a:t>▸  串级 PID 控制器 (外环20Hz + 内环100Hz)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0" y="2935224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6EDF3"/>
                </a:solidFill>
                <a:latin typeface="Arial" panose="020B0604020202020204"/>
              </a:defRPr>
            </a:pPr>
            <a:r>
              <a:t>▸  三个 AX-12A 舵机保持目标角度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0" y="331927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6EDF3"/>
                </a:solidFill>
                <a:latin typeface="Arial" panose="020B0604020202020204"/>
              </a:defRPr>
            </a:pPr>
            <a:r>
              <a:t>▸  OV7725 摄像头实时图像采集与显示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0" y="37033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6EDF3"/>
                </a:solidFill>
                <a:latin typeface="Arial" panose="020B0604020202020204"/>
              </a:defRPr>
            </a:pPr>
            <a:r>
              <a:t>▸  DMA + IDLE 中断高效数据接收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0" y="408736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6EDF3"/>
                </a:solidFill>
                <a:latin typeface="Arial" panose="020B0604020202020204"/>
              </a:defRPr>
            </a:pPr>
            <a:r>
              <a:t>▸  VOFA+ Firewater 协议调试输出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48463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484F58"/>
                </a:solidFill>
                <a:latin typeface="Arial" panose="020B0604020202020204"/>
              </a:defRPr>
            </a:pPr>
            <a:r>
              <a:t>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6EDF3"/>
                </a:solidFill>
                <a:latin typeface="Arial" panose="020B0604020202020204"/>
              </a:defRPr>
            </a:pPr>
            <a:r>
              <a:t>硬件接口分配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  <a:latin typeface="Arial" panose="020B0604020202020204"/>
              </a:defRPr>
            </a:pPr>
            <a:r>
              <a:t>Hardware Interfaces — 引脚、波特率与用途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9144000" cy="25400"/>
          </a:xfrm>
          <a:prstGeom prst="rect">
            <a:avLst/>
          </a:prstGeom>
          <a:solidFill>
            <a:srgbClr val="00D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9A6"/>
                </a:solidFill>
                <a:latin typeface="Arial" panose="020B0604020202020204"/>
              </a:defRPr>
            </a:pPr>
            <a:r>
              <a:t>串口通信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371600"/>
          <a:ext cx="82296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011680"/>
                <a:gridCol w="1645920"/>
                <a:gridCol w="2743200"/>
              </a:tblGrid>
              <a:tr h="2743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D9A6"/>
                          </a:solidFill>
                          <a:latin typeface="Arial" panose="020B0604020202020204"/>
                        </a:defRPr>
                      </a:pPr>
                      <a:r>
                        <a:t>外设</a:t>
                      </a:r>
                    </a:p>
                  </a:txBody>
                  <a:tcPr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D9A6"/>
                          </a:solidFill>
                          <a:latin typeface="Arial" panose="020B0604020202020204"/>
                        </a:defRPr>
                      </a:pPr>
                      <a:r>
                        <a:t>引脚</a:t>
                      </a:r>
                    </a:p>
                  </a:txBody>
                  <a:tcPr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D9A6"/>
                          </a:solidFill>
                          <a:latin typeface="Arial" panose="020B0604020202020204"/>
                        </a:defRPr>
                      </a:pPr>
                      <a:r>
                        <a:t>波特率</a:t>
                      </a:r>
                    </a:p>
                  </a:txBody>
                  <a:tcPr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D9A6"/>
                          </a:solidFill>
                          <a:latin typeface="Arial" panose="020B0604020202020204"/>
                        </a:defRPr>
                      </a:pPr>
                      <a:r>
                        <a:t>用途</a:t>
                      </a:r>
                    </a:p>
                  </a:txBody>
                  <a:tcPr>
                    <a:solidFill>
                      <a:srgbClr val="0D213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E6EDF3"/>
                          </a:solidFill>
                          <a:latin typeface="Arial" panose="020B0604020202020204"/>
                        </a:defRPr>
                      </a:pPr>
                      <a:r>
                        <a:t>USART1</a:t>
                      </a:r>
                    </a:p>
                  </a:txBody>
                  <a:tcPr>
                    <a:solidFill>
                      <a:srgbClr val="1017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E6EDF3"/>
                          </a:solidFill>
                          <a:latin typeface="Arial" panose="020B0604020202020204"/>
                        </a:defRPr>
                      </a:pPr>
                      <a:r>
                        <a:t>PA9 / PA10</a:t>
                      </a:r>
                    </a:p>
                  </a:txBody>
                  <a:tcPr>
                    <a:solidFill>
                      <a:srgbClr val="1017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E6EDF3"/>
                          </a:solidFill>
                          <a:latin typeface="Arial" panose="020B0604020202020204"/>
                        </a:defRPr>
                      </a:pPr>
                      <a:r>
                        <a:t>115200</a:t>
                      </a:r>
                    </a:p>
                  </a:txBody>
                  <a:tcPr>
                    <a:solidFill>
                      <a:srgbClr val="1017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E6EDF3"/>
                          </a:solidFill>
                          <a:latin typeface="Arial" panose="020B0604020202020204"/>
                        </a:defRPr>
                      </a:pPr>
                      <a:r>
                        <a:t>printf 调试 (VOFA+)</a:t>
                      </a:r>
                    </a:p>
                  </a:txBody>
                  <a:tcPr>
                    <a:solidFill>
                      <a:srgbClr val="10171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E6EDF3"/>
                          </a:solidFill>
                          <a:latin typeface="Arial" panose="020B0604020202020204"/>
                        </a:defRPr>
                      </a:pPr>
                      <a:r>
                        <a:t>USART2</a:t>
                      </a:r>
                    </a:p>
                  </a:txBody>
                  <a:tcPr>
                    <a:solidFill>
                      <a:srgbClr val="151C2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E6EDF3"/>
                          </a:solidFill>
                          <a:latin typeface="Arial" panose="020B0604020202020204"/>
                        </a:defRPr>
                      </a:pPr>
                      <a:r>
                        <a:t>PA2 / PA3</a:t>
                      </a:r>
                    </a:p>
                  </a:txBody>
                  <a:tcPr>
                    <a:solidFill>
                      <a:srgbClr val="151C2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E6EDF3"/>
                          </a:solidFill>
                          <a:latin typeface="Arial" panose="020B0604020202020204"/>
                        </a:defRPr>
                      </a:pPr>
                      <a:r>
                        <a:t>115200</a:t>
                      </a:r>
                    </a:p>
                  </a:txBody>
                  <a:tcPr>
                    <a:solidFill>
                      <a:srgbClr val="151C2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E6EDF3"/>
                          </a:solidFill>
                          <a:latin typeface="Arial" panose="020B0604020202020204"/>
                        </a:defRPr>
                      </a:pPr>
                      <a:r>
                        <a:t>JY901S IMU (DMA)</a:t>
                      </a:r>
                    </a:p>
                  </a:txBody>
                  <a:tcPr>
                    <a:solidFill>
                      <a:srgbClr val="151C2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E6EDF3"/>
                          </a:solidFill>
                          <a:latin typeface="Arial" panose="020B0604020202020204"/>
                        </a:defRPr>
                      </a:pPr>
                      <a:r>
                        <a:t>USART3</a:t>
                      </a:r>
                    </a:p>
                  </a:txBody>
                  <a:tcPr>
                    <a:solidFill>
                      <a:srgbClr val="1017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E6EDF3"/>
                          </a:solidFill>
                          <a:latin typeface="Arial" panose="020B0604020202020204"/>
                        </a:defRPr>
                      </a:pPr>
                      <a:r>
                        <a:t>PB10 / PB11</a:t>
                      </a:r>
                    </a:p>
                  </a:txBody>
                  <a:tcPr>
                    <a:solidFill>
                      <a:srgbClr val="1017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E6EDF3"/>
                          </a:solidFill>
                          <a:latin typeface="Arial" panose="020B0604020202020204"/>
                        </a:defRPr>
                      </a:pPr>
                      <a:r>
                        <a:t>1000000</a:t>
                      </a:r>
                    </a:p>
                  </a:txBody>
                  <a:tcPr>
                    <a:solidFill>
                      <a:srgbClr val="1017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E6EDF3"/>
                          </a:solidFill>
                          <a:latin typeface="Arial" panose="020B0604020202020204"/>
                        </a:defRPr>
                      </a:pPr>
                      <a:r>
                        <a:t>AX-12A 舵机 (RS485)</a:t>
                      </a:r>
                    </a:p>
                  </a:txBody>
                  <a:tcPr>
                    <a:solidFill>
                      <a:srgbClr val="10171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28346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8A6FF"/>
                </a:solidFill>
                <a:latin typeface="Arial" panose="020B0604020202020204"/>
              </a:defRPr>
            </a:pPr>
            <a:r>
              <a:t>定时器 / DMA / GPIO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3154680"/>
          <a:ext cx="8229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743200"/>
                <a:gridCol w="3200400"/>
              </a:tblGrid>
              <a:tr h="2743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D9A6"/>
                          </a:solidFill>
                          <a:latin typeface="Arial" panose="020B0604020202020204"/>
                        </a:defRPr>
                      </a:pPr>
                      <a:r>
                        <a:t>资源</a:t>
                      </a:r>
                    </a:p>
                  </a:txBody>
                  <a:tcPr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D9A6"/>
                          </a:solidFill>
                          <a:latin typeface="Arial" panose="020B0604020202020204"/>
                        </a:defRPr>
                      </a:pPr>
                      <a:r>
                        <a:t>配置</a:t>
                      </a:r>
                    </a:p>
                  </a:txBody>
                  <a:tcPr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D9A6"/>
                          </a:solidFill>
                          <a:latin typeface="Arial" panose="020B0604020202020204"/>
                        </a:defRPr>
                      </a:pPr>
                      <a:r>
                        <a:t>用途</a:t>
                      </a:r>
                    </a:p>
                  </a:txBody>
                  <a:tcPr>
                    <a:solidFill>
                      <a:srgbClr val="0D213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E6EDF3"/>
                          </a:solidFill>
                          <a:latin typeface="Arial" panose="020B0604020202020204"/>
                        </a:defRPr>
                      </a:pPr>
                      <a:r>
                        <a:t>TIM2</a:t>
                      </a:r>
                    </a:p>
                  </a:txBody>
                  <a:tcPr>
                    <a:solidFill>
                      <a:srgbClr val="1017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E6EDF3"/>
                          </a:solidFill>
                          <a:latin typeface="Arial" panose="020B0604020202020204"/>
                        </a:defRPr>
                      </a:pPr>
                      <a:r>
                        <a:t>100Hz 定时中断</a:t>
                      </a:r>
                    </a:p>
                  </a:txBody>
                  <a:tcPr>
                    <a:solidFill>
                      <a:srgbClr val="1017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E6EDF3"/>
                          </a:solidFill>
                          <a:latin typeface="Arial" panose="020B0604020202020204"/>
                        </a:defRPr>
                      </a:pPr>
                      <a:r>
                        <a:t>PID 控制周期</a:t>
                      </a:r>
                    </a:p>
                  </a:txBody>
                  <a:tcPr>
                    <a:solidFill>
                      <a:srgbClr val="10171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E6EDF3"/>
                          </a:solidFill>
                          <a:latin typeface="Arial" panose="020B0604020202020204"/>
                        </a:defRPr>
                      </a:pPr>
                      <a:r>
                        <a:t>DMA1_CH6</a:t>
                      </a:r>
                    </a:p>
                  </a:txBody>
                  <a:tcPr>
                    <a:solidFill>
                      <a:srgbClr val="151C2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E6EDF3"/>
                          </a:solidFill>
                          <a:latin typeface="Arial" panose="020B0604020202020204"/>
                        </a:defRPr>
                      </a:pPr>
                      <a:r>
                        <a:t>USART2 RX 循环</a:t>
                      </a:r>
                    </a:p>
                  </a:txBody>
                  <a:tcPr>
                    <a:solidFill>
                      <a:srgbClr val="151C2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E6EDF3"/>
                          </a:solidFill>
                          <a:latin typeface="Arial" panose="020B0604020202020204"/>
                        </a:defRPr>
                      </a:pPr>
                      <a:r>
                        <a:t>IMU 数据接收</a:t>
                      </a:r>
                    </a:p>
                  </a:txBody>
                  <a:tcPr>
                    <a:solidFill>
                      <a:srgbClr val="151C2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E6EDF3"/>
                          </a:solidFill>
                          <a:latin typeface="Arial" panose="020B0604020202020204"/>
                        </a:defRPr>
                      </a:pPr>
                      <a:r>
                        <a:t>GPIO PB5</a:t>
                      </a:r>
                    </a:p>
                  </a:txBody>
                  <a:tcPr>
                    <a:solidFill>
                      <a:srgbClr val="1017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E6EDF3"/>
                          </a:solidFill>
                          <a:latin typeface="Arial" panose="020B0604020202020204"/>
                        </a:defRPr>
                      </a:pPr>
                      <a:r>
                        <a:t>RX485_TX_EN</a:t>
                      </a:r>
                    </a:p>
                  </a:txBody>
                  <a:tcPr>
                    <a:solidFill>
                      <a:srgbClr val="1017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E6EDF3"/>
                          </a:solidFill>
                          <a:latin typeface="Arial" panose="020B0604020202020204"/>
                        </a:defRPr>
                      </a:pPr>
                      <a:r>
                        <a:t>RS485 方向控制</a:t>
                      </a:r>
                    </a:p>
                  </a:txBody>
                  <a:tcPr>
                    <a:solidFill>
                      <a:srgbClr val="10171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E6EDF3"/>
                          </a:solidFill>
                          <a:latin typeface="Arial" panose="020B0604020202020204"/>
                        </a:defRPr>
                      </a:pPr>
                      <a:r>
                        <a:t>SysTick</a:t>
                      </a:r>
                    </a:p>
                  </a:txBody>
                  <a:tcPr>
                    <a:solidFill>
                      <a:srgbClr val="151C2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E6EDF3"/>
                          </a:solidFill>
                          <a:latin typeface="Arial" panose="020B0604020202020204"/>
                        </a:defRPr>
                      </a:pPr>
                      <a:r>
                        <a:t>1kHz</a:t>
                      </a:r>
                    </a:p>
                  </a:txBody>
                  <a:tcPr>
                    <a:solidFill>
                      <a:srgbClr val="151C2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E6EDF3"/>
                          </a:solidFill>
                          <a:latin typeface="Arial" panose="020B0604020202020204"/>
                        </a:defRPr>
                      </a:pPr>
                      <a:r>
                        <a:t>系统时钟 HAL_IncTick</a:t>
                      </a:r>
                    </a:p>
                  </a:txBody>
                  <a:tcPr>
                    <a:solidFill>
                      <a:srgbClr val="151C25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412480" y="48463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484F58"/>
                </a:solidFill>
                <a:latin typeface="Arial" panose="020B0604020202020204"/>
              </a:defRPr>
            </a:pPr>
            <a:r>
              <a:t>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6EDF3"/>
                </a:solidFill>
                <a:latin typeface="Arial" panose="020B0604020202020204"/>
              </a:defRPr>
            </a:pPr>
            <a:r>
              <a:t>软件架构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  <a:latin typeface="Arial" panose="020B0604020202020204"/>
              </a:defRPr>
            </a:pPr>
            <a:r>
              <a:t>Software Architecture — 分层设计、模块交互与目录结构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9144000" cy="25400"/>
          </a:xfrm>
          <a:prstGeom prst="rect">
            <a:avLst/>
          </a:prstGeom>
          <a:solidFill>
            <a:srgbClr val="00D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" y="1005840"/>
            <a:ext cx="2377440" cy="393192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05840"/>
            <a:ext cx="2377440" cy="254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0972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58A6FF"/>
                </a:solidFill>
                <a:latin typeface="Arial" panose="020B0604020202020204"/>
              </a:defRPr>
            </a:pPr>
            <a:r>
              <a:t>📁 工程目录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417320"/>
            <a:ext cx="219456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8B949E"/>
                </a:solidFill>
                <a:latin typeface="Consolas" panose="020B0609020204030204"/>
              </a:defRPr>
            </a:pPr>
            <a:r>
              <a:t>StableGimbalV2/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572768"/>
            <a:ext cx="219456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00D9A6"/>
                </a:solidFill>
                <a:latin typeface="Consolas" panose="020B0609020204030204"/>
              </a:defRPr>
            </a:pPr>
            <a:r>
              <a:t>├── Core/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728216"/>
            <a:ext cx="219456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8B949E"/>
                </a:solidFill>
                <a:latin typeface="Consolas" panose="020B0609020204030204"/>
              </a:defRPr>
            </a:pPr>
            <a:r>
              <a:t>│   ├── Inc/  CubeMX 头文件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883664"/>
            <a:ext cx="219456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00D9A6"/>
                </a:solidFill>
                <a:latin typeface="Consolas" panose="020B0609020204030204"/>
              </a:defRPr>
            </a:pPr>
            <a:r>
              <a:t>│   └── Src/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039112"/>
            <a:ext cx="219456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E6EDF3"/>
                </a:solidFill>
                <a:latin typeface="Consolas" panose="020B0609020204030204"/>
              </a:defRPr>
            </a:pPr>
            <a:r>
              <a:t>│       ├── main.c  主程序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194560"/>
            <a:ext cx="219456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E6EDF3"/>
                </a:solidFill>
                <a:latin typeface="Consolas" panose="020B0609020204030204"/>
              </a:defRPr>
            </a:pPr>
            <a:r>
              <a:t>│       ├── stm32f1xx_it.c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350008"/>
            <a:ext cx="219456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E6EDF3"/>
                </a:solidFill>
                <a:latin typeface="Consolas" panose="020B0609020204030204"/>
              </a:defRPr>
            </a:pPr>
            <a:r>
              <a:t>│       └── hal_msp.c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2505456"/>
            <a:ext cx="219456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58A6FF"/>
                </a:solidFill>
                <a:latin typeface="Consolas" panose="020B0609020204030204"/>
              </a:defRPr>
            </a:pPr>
            <a:r>
              <a:t>├── App/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2660904"/>
            <a:ext cx="219456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E6EDF3"/>
                </a:solidFill>
                <a:latin typeface="Consolas" panose="020B0609020204030204"/>
              </a:defRPr>
            </a:pPr>
            <a:r>
              <a:t>│   ├── Inc/pid.h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2816352"/>
            <a:ext cx="219456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E6EDF3"/>
                </a:solidFill>
                <a:latin typeface="Consolas" panose="020B0609020204030204"/>
              </a:defRPr>
            </a:pPr>
            <a:r>
              <a:t>│   └── Src/pid.c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2971800"/>
            <a:ext cx="219456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F9E3D"/>
                </a:solidFill>
                <a:latin typeface="Consolas" panose="020B0609020204030204"/>
              </a:defRPr>
            </a:pPr>
            <a:r>
              <a:t>├── Bsp/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3127248"/>
            <a:ext cx="219456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E6EDF3"/>
                </a:solidFill>
                <a:latin typeface="Consolas" panose="020B0609020204030204"/>
              </a:defRPr>
            </a:pPr>
            <a:r>
              <a:t>│   ├── Inc/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3282696"/>
            <a:ext cx="219456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E6EDF3"/>
                </a:solidFill>
                <a:latin typeface="Consolas" panose="020B0609020204030204"/>
              </a:defRPr>
            </a:pPr>
            <a:r>
              <a:t>│   │   ├── ax12a.h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3438144"/>
            <a:ext cx="219456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E6EDF3"/>
                </a:solidFill>
                <a:latin typeface="Consolas" panose="020B0609020204030204"/>
              </a:defRPr>
            </a:pPr>
            <a:r>
              <a:t>│   │   └── bsp_jy901s.h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3593592"/>
            <a:ext cx="219456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E6EDF3"/>
                </a:solidFill>
                <a:latin typeface="Consolas" panose="020B0609020204030204"/>
              </a:defRPr>
            </a:pPr>
            <a:r>
              <a:t>│   └── Src/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3749040"/>
            <a:ext cx="219456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E6EDF3"/>
                </a:solidFill>
                <a:latin typeface="Consolas" panose="020B0609020204030204"/>
              </a:defRPr>
            </a:pPr>
            <a:r>
              <a:t>│       ├── ax12a.c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3904488"/>
            <a:ext cx="219456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E6EDF3"/>
                </a:solidFill>
                <a:latin typeface="Consolas" panose="020B0609020204030204"/>
              </a:defRPr>
            </a:pPr>
            <a:r>
              <a:t>│       └── bsp_jy901s.c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4059936"/>
            <a:ext cx="219456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8B949E"/>
                </a:solidFill>
                <a:latin typeface="Consolas" panose="020B0609020204030204"/>
              </a:defRPr>
            </a:pPr>
            <a:r>
              <a:t>└── Drivers/  HAL+CMSIS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880360" y="1143000"/>
            <a:ext cx="548640" cy="256032"/>
          </a:xfrm>
          <a:prstGeom prst="roundRect">
            <a:avLst/>
          </a:prstGeom>
          <a:solidFill>
            <a:srgbClr val="00D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800" b="1">
                <a:solidFill>
                  <a:srgbClr val="0D1117"/>
                </a:solidFill>
                <a:latin typeface="Arial" panose="020B0604020202020204"/>
              </a:defRPr>
            </a:pPr>
            <a:r>
              <a:t>调度层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880360" y="2148840"/>
            <a:ext cx="548640" cy="256032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800" b="1">
                <a:solidFill>
                  <a:srgbClr val="0D1117"/>
                </a:solidFill>
                <a:latin typeface="Arial" panose="020B0604020202020204"/>
              </a:defRPr>
            </a:pPr>
            <a:r>
              <a:t>算法层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880360" y="3063240"/>
            <a:ext cx="548640" cy="256032"/>
          </a:xfrm>
          <a:prstGeom prst="roundRect">
            <a:avLst/>
          </a:prstGeom>
          <a:solidFill>
            <a:srgbClr val="FF9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800" b="1">
                <a:solidFill>
                  <a:srgbClr val="0D1117"/>
                </a:solidFill>
                <a:latin typeface="Arial" panose="020B0604020202020204"/>
              </a:defRPr>
            </a:pPr>
            <a:r>
              <a:t>驱动层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880360" y="4069079"/>
            <a:ext cx="548640" cy="256032"/>
          </a:xfrm>
          <a:prstGeom prst="roundRect">
            <a:avLst/>
          </a:prstGeom>
          <a:solidFill>
            <a:srgbClr val="BC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800" b="1">
                <a:solidFill>
                  <a:srgbClr val="0D1117"/>
                </a:solidFill>
                <a:latin typeface="Arial" panose="020B0604020202020204"/>
              </a:defRPr>
            </a:pPr>
            <a:r>
              <a:t>硬件层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474720" y="1005840"/>
            <a:ext cx="5303520" cy="777240"/>
          </a:xfrm>
          <a:prstGeom prst="roundRect">
            <a:avLst/>
          </a:prstGeom>
          <a:solidFill>
            <a:srgbClr val="0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474720" y="1005840"/>
            <a:ext cx="5303520" cy="25400"/>
          </a:xfrm>
          <a:prstGeom prst="rect">
            <a:avLst/>
          </a:prstGeom>
          <a:solidFill>
            <a:srgbClr val="00D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0" y="107899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9A6"/>
                </a:solidFill>
                <a:latin typeface="Arial" panose="020B0604020202020204"/>
              </a:defRPr>
            </a:pPr>
            <a:r>
              <a:t>main.c  主循环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0" y="1353312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949E"/>
                </a:solidFill>
                <a:latin typeface="Arial" panose="020B0604020202020204"/>
              </a:defRPr>
            </a:pPr>
            <a:r>
              <a:t>初始化  →  TIM2 100Hz 驱动  →  轮询 g_pidFlag  →  执行控制周期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657600" y="1600200"/>
            <a:ext cx="1097280" cy="164592"/>
          </a:xfrm>
          <a:prstGeom prst="roundRect">
            <a:avLst/>
          </a:prstGeom>
          <a:solidFill>
            <a:srgbClr val="1C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703320" y="1600200"/>
            <a:ext cx="1005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00D9A6"/>
                </a:solidFill>
                <a:latin typeface="Arial" panose="020B0604020202020204"/>
              </a:defRPr>
            </a:pPr>
            <a:r>
              <a:t>jy901sPoll()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892040" y="1600200"/>
            <a:ext cx="1097280" cy="164592"/>
          </a:xfrm>
          <a:prstGeom prst="roundRect">
            <a:avLst/>
          </a:prstGeom>
          <a:solidFill>
            <a:srgbClr val="1C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37760" y="1600200"/>
            <a:ext cx="1005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00D9A6"/>
                </a:solidFill>
                <a:latin typeface="Arial" panose="020B0604020202020204"/>
              </a:defRPr>
            </a:pPr>
            <a:r>
              <a:t>PID 计算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26480" y="1600200"/>
            <a:ext cx="1097280" cy="164592"/>
          </a:xfrm>
          <a:prstGeom prst="roundRect">
            <a:avLst/>
          </a:prstGeom>
          <a:solidFill>
            <a:srgbClr val="1C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72200" y="1600200"/>
            <a:ext cx="1005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00D9A6"/>
                </a:solidFill>
                <a:latin typeface="Arial" panose="020B0604020202020204"/>
              </a:defRPr>
            </a:pPr>
            <a:r>
              <a:t>舵机输出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60920" y="1600200"/>
            <a:ext cx="1097280" cy="164592"/>
          </a:xfrm>
          <a:prstGeom prst="roundRect">
            <a:avLst/>
          </a:prstGeom>
          <a:solidFill>
            <a:srgbClr val="1C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06640" y="1600200"/>
            <a:ext cx="1005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00D9A6"/>
                </a:solidFill>
                <a:latin typeface="Arial" panose="020B0604020202020204"/>
              </a:defRPr>
            </a:pPr>
            <a:r>
              <a:t>VOFA+ 调试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0" y="1810512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84F58"/>
                </a:solidFill>
                <a:latin typeface="Arial" panose="020B0604020202020204"/>
              </a:defRPr>
            </a:pPr>
            <a:r>
              <a:t>▼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32320" y="1810512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84F58"/>
                </a:solidFill>
                <a:latin typeface="Arial" panose="020B0604020202020204"/>
              </a:defRPr>
            </a:pPr>
            <a:r>
              <a:t>▼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474720" y="2011680"/>
            <a:ext cx="5303520" cy="777240"/>
          </a:xfrm>
          <a:prstGeom prst="round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474720" y="2011680"/>
            <a:ext cx="5303520" cy="254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657600" y="2084831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58A6FF"/>
                </a:solidFill>
                <a:latin typeface="Arial" panose="020B0604020202020204"/>
              </a:defRPr>
            </a:pPr>
            <a:r>
              <a:t>App 层 — 串级 PID 控制器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83680" y="2084831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B949E"/>
                </a:solidFill>
                <a:latin typeface="Consolas" panose="020B0609020204030204"/>
              </a:defRPr>
            </a:pPr>
            <a:r>
              <a:t>pid.h / pid.c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657600" y="2359152"/>
            <a:ext cx="1554480" cy="384048"/>
          </a:xfrm>
          <a:prstGeom prst="roundRect">
            <a:avLst/>
          </a:prstGeom>
          <a:solidFill>
            <a:srgbClr val="1C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657600" y="2359152"/>
            <a:ext cx="25400" cy="38404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749040" y="2359152"/>
            <a:ext cx="1417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58A6FF"/>
                </a:solidFill>
                <a:latin typeface="Consolas" panose="020B0609020204030204"/>
              </a:defRPr>
            </a:pPr>
            <a:r>
              <a:t>cascadedPidOuterUpdate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749040" y="2542032"/>
            <a:ext cx="1417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8B949E"/>
                </a:solidFill>
                <a:latin typeface="Arial" panose="020B0604020202020204"/>
              </a:defRPr>
            </a:pPr>
            <a:r>
              <a:t>外环 20Hz</a:t>
            </a:r>
            <a:br/>
            <a:r>
              <a:t>角度→角速度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394960" y="2359152"/>
            <a:ext cx="1554480" cy="384048"/>
          </a:xfrm>
          <a:prstGeom prst="roundRect">
            <a:avLst/>
          </a:prstGeom>
          <a:solidFill>
            <a:srgbClr val="1C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394960" y="2359152"/>
            <a:ext cx="25400" cy="384048"/>
          </a:xfrm>
          <a:prstGeom prst="rect">
            <a:avLst/>
          </a:prstGeom>
          <a:solidFill>
            <a:srgbClr val="00D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86400" y="2359152"/>
            <a:ext cx="1417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00D9A6"/>
                </a:solidFill>
                <a:latin typeface="Consolas" panose="020B0609020204030204"/>
              </a:defRPr>
            </a:pPr>
            <a:r>
              <a:t>cascadedPidInnerUpdate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86400" y="2542032"/>
            <a:ext cx="1417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8B949E"/>
                </a:solidFill>
                <a:latin typeface="Arial" panose="020B0604020202020204"/>
              </a:defRPr>
            </a:pPr>
            <a:r>
              <a:t>内环 100Hz</a:t>
            </a:r>
            <a:br/>
            <a:r>
              <a:t>角速度→输出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132320" y="2359152"/>
            <a:ext cx="1554480" cy="384048"/>
          </a:xfrm>
          <a:prstGeom prst="roundRect">
            <a:avLst/>
          </a:prstGeom>
          <a:solidFill>
            <a:srgbClr val="1C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132320" y="2359152"/>
            <a:ext cx="25400" cy="384048"/>
          </a:xfrm>
          <a:prstGeom prst="rect">
            <a:avLst/>
          </a:prstGeom>
          <a:solidFill>
            <a:srgbClr val="FF9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223760" y="2359152"/>
            <a:ext cx="1417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F9E3D"/>
                </a:solidFill>
                <a:latin typeface="Consolas" panose="020B0609020204030204"/>
              </a:defRPr>
            </a:pPr>
            <a:r>
              <a:t>pidAx12a*Output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223760" y="2542032"/>
            <a:ext cx="1417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8B949E"/>
                </a:solidFill>
                <a:latin typeface="Arial" panose="020B0604020202020204"/>
              </a:defRPr>
            </a:pPr>
            <a:r>
              <a:t>舵机输出封装</a:t>
            </a:r>
            <a:br/>
            <a:r>
              <a:t>增量限幅+位置限幅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572000" y="2816352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84F58"/>
                </a:solidFill>
                <a:latin typeface="Arial" panose="020B0604020202020204"/>
              </a:defRPr>
            </a:pPr>
            <a:r>
              <a:t>▼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498079" y="2816352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84F58"/>
                </a:solidFill>
                <a:latin typeface="Arial" panose="020B0604020202020204"/>
              </a:defRPr>
            </a:pPr>
            <a:r>
              <a:t>▼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3474720" y="2926080"/>
            <a:ext cx="5303520" cy="822960"/>
          </a:xfrm>
          <a:prstGeom prst="roundRect">
            <a:avLst/>
          </a:prstGeom>
          <a:solidFill>
            <a:srgbClr val="1A1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3474720" y="2926080"/>
            <a:ext cx="5303520" cy="25400"/>
          </a:xfrm>
          <a:prstGeom prst="rect">
            <a:avLst/>
          </a:prstGeom>
          <a:solidFill>
            <a:srgbClr val="FF9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3657600" y="3063240"/>
            <a:ext cx="2286000" cy="594360"/>
          </a:xfrm>
          <a:prstGeom prst="roundRect">
            <a:avLst/>
          </a:prstGeom>
          <a:solidFill>
            <a:srgbClr val="1C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3657600" y="3063240"/>
            <a:ext cx="25400" cy="59436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794760" y="3090672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58A6FF"/>
                </a:solidFill>
                <a:latin typeface="Arial" panose="020B0604020202020204"/>
              </a:defRPr>
            </a:pPr>
            <a:r>
              <a:t>Bsp — bsp_jy901s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794760" y="3273552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8B949E"/>
                </a:solidFill>
                <a:latin typeface="Arial" panose="020B0604020202020204"/>
              </a:defRPr>
            </a:pPr>
            <a:r>
              <a:t>IMU 驱动 | DMA+IDLE | 状态机解析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794760" y="3456432"/>
            <a:ext cx="20116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484F58"/>
                </a:solidFill>
                <a:latin typeface="Consolas" panose="020B0609020204030204"/>
              </a:defRPr>
            </a:pPr>
            <a:r>
              <a:t>USART2 115200baud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217920" y="3063240"/>
            <a:ext cx="2468880" cy="594360"/>
          </a:xfrm>
          <a:prstGeom prst="roundRect">
            <a:avLst/>
          </a:prstGeom>
          <a:solidFill>
            <a:srgbClr val="1C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217920" y="3063240"/>
            <a:ext cx="25400" cy="594360"/>
          </a:xfrm>
          <a:prstGeom prst="rect">
            <a:avLst/>
          </a:prstGeom>
          <a:solidFill>
            <a:srgbClr val="FF9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355080" y="3090672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9E3D"/>
                </a:solidFill>
                <a:latin typeface="Arial" panose="020B0604020202020204"/>
              </a:defRPr>
            </a:pPr>
            <a:r>
              <a:t>Bsp — ax12a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355080" y="3273552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8B949E"/>
                </a:solidFill>
                <a:latin typeface="Arial" panose="020B0604020202020204"/>
              </a:defRPr>
            </a:pPr>
            <a:r>
              <a:t>舵机驱动 | Dynamixel 1.0 | RS485 半双工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355080" y="3456432"/>
            <a:ext cx="21945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484F58"/>
                </a:solidFill>
                <a:latin typeface="Consolas" panose="020B0609020204030204"/>
              </a:defRPr>
            </a:pPr>
            <a:r>
              <a:t>USART3 1Mbps + PB5 方向控制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029200" y="3246120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8B949E"/>
                </a:solidFill>
                <a:latin typeface="Arial" panose="020B0604020202020204"/>
              </a:defRPr>
            </a:pPr>
            <a:r>
              <a:t>──→  数据流  ──→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754880" y="3767328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84F58"/>
                </a:solidFill>
                <a:latin typeface="Arial" panose="020B0604020202020204"/>
              </a:defRPr>
            </a:pPr>
            <a:r>
              <a:t>▼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406640" y="3767328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84F58"/>
                </a:solidFill>
                <a:latin typeface="Arial" panose="020B0604020202020204"/>
              </a:defRPr>
            </a:pPr>
            <a:r>
              <a:t>▼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3474720" y="3931920"/>
            <a:ext cx="5303520" cy="777240"/>
          </a:xfrm>
          <a:prstGeom prst="roundRect">
            <a:avLst/>
          </a:prstGeom>
          <a:solidFill>
            <a:srgbClr val="150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3474720" y="3931920"/>
            <a:ext cx="5303520" cy="25400"/>
          </a:xfrm>
          <a:prstGeom prst="rect">
            <a:avLst/>
          </a:prstGeom>
          <a:solidFill>
            <a:srgbClr val="BC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657600" y="400507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C8CFF"/>
                </a:solidFill>
                <a:latin typeface="Arial" panose="020B0604020202020204"/>
              </a:defRPr>
            </a:pPr>
            <a:r>
              <a:t>Drivers + 硬件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3657600" y="4251960"/>
            <a:ext cx="1143000" cy="411480"/>
          </a:xfrm>
          <a:prstGeom prst="roundRect">
            <a:avLst/>
          </a:prstGeom>
          <a:solidFill>
            <a:srgbClr val="1C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3657600" y="4251960"/>
            <a:ext cx="1143000" cy="25400"/>
          </a:xfrm>
          <a:prstGeom prst="rect">
            <a:avLst/>
          </a:prstGeom>
          <a:solidFill>
            <a:srgbClr val="00D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703320" y="4261104"/>
            <a:ext cx="1051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00D9A6"/>
                </a:solidFill>
                <a:latin typeface="Arial" panose="020B0604020202020204"/>
              </a:defRPr>
            </a:pPr>
            <a:r>
              <a:t>HAL 库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703320" y="4462272"/>
            <a:ext cx="1051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" b="0">
                <a:solidFill>
                  <a:srgbClr val="8B949E"/>
                </a:solidFill>
                <a:latin typeface="Arial" panose="020B0604020202020204"/>
              </a:defRPr>
            </a:pPr>
            <a:r>
              <a:t>GPIO / UART</a:t>
            </a:r>
            <a:br/>
            <a:r>
              <a:t>DMA / TIM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4956048" y="4251960"/>
            <a:ext cx="1143000" cy="411480"/>
          </a:xfrm>
          <a:prstGeom prst="roundRect">
            <a:avLst/>
          </a:prstGeom>
          <a:solidFill>
            <a:srgbClr val="1C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4956048" y="4251960"/>
            <a:ext cx="1143000" cy="254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5001768" y="4261104"/>
            <a:ext cx="1051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58A6FF"/>
                </a:solidFill>
                <a:latin typeface="Arial" panose="020B0604020202020204"/>
              </a:defRPr>
            </a:pPr>
            <a:r>
              <a:t>JY901S</a:t>
            </a:r>
            <a:br/>
            <a:r>
              <a:t>九轴 IMU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001768" y="4462272"/>
            <a:ext cx="1051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" b="0">
                <a:solidFill>
                  <a:srgbClr val="8B949E"/>
                </a:solidFill>
                <a:latin typeface="Arial" panose="020B0604020202020204"/>
              </a:defRPr>
            </a:pPr>
            <a:r>
              <a:t>加速度+陀螺仪</a:t>
            </a:r>
            <a:br/>
            <a:r>
              <a:t>+磁力计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6254496" y="4251960"/>
            <a:ext cx="1143000" cy="411480"/>
          </a:xfrm>
          <a:prstGeom prst="roundRect">
            <a:avLst/>
          </a:prstGeom>
          <a:solidFill>
            <a:srgbClr val="1C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6254496" y="4251960"/>
            <a:ext cx="1143000" cy="25400"/>
          </a:xfrm>
          <a:prstGeom prst="rect">
            <a:avLst/>
          </a:prstGeom>
          <a:solidFill>
            <a:srgbClr val="FF9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0216" y="4261104"/>
            <a:ext cx="1051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FF9E3D"/>
                </a:solidFill>
                <a:latin typeface="Arial" panose="020B0604020202020204"/>
              </a:defRPr>
            </a:pPr>
            <a:r>
              <a:t>AX-12A</a:t>
            </a:r>
            <a:br/>
            <a:r>
              <a:t>×3 舵机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300216" y="4462272"/>
            <a:ext cx="1051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" b="0">
                <a:solidFill>
                  <a:srgbClr val="8B949E"/>
                </a:solidFill>
                <a:latin typeface="Arial" panose="020B0604020202020204"/>
              </a:defRPr>
            </a:pPr>
            <a:r>
              <a:t>Pitch/Roll/Yaw</a:t>
            </a:r>
            <a:br/>
            <a:r>
              <a:t>RS485 总线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7552944" y="4251960"/>
            <a:ext cx="1143000" cy="411480"/>
          </a:xfrm>
          <a:prstGeom prst="roundRect">
            <a:avLst/>
          </a:prstGeom>
          <a:solidFill>
            <a:srgbClr val="1C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7552944" y="4251960"/>
            <a:ext cx="1143000" cy="254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598664" y="4261104"/>
            <a:ext cx="1051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E94560"/>
                </a:solidFill>
                <a:latin typeface="Arial" panose="020B0604020202020204"/>
              </a:defRPr>
            </a:pPr>
            <a:r>
              <a:t>OV7725</a:t>
            </a:r>
            <a:br/>
            <a:r>
              <a:t>摄像头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598664" y="4462272"/>
            <a:ext cx="1051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" b="0">
                <a:solidFill>
                  <a:srgbClr val="8B949E"/>
                </a:solidFill>
                <a:latin typeface="Arial" panose="020B0604020202020204"/>
              </a:defRPr>
            </a:pPr>
            <a:r>
              <a:t>AL422B FIFO</a:t>
            </a:r>
            <a:br/>
            <a:r>
              <a:t>LCD 显示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726679" y="109728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8B949E"/>
                </a:solidFill>
                <a:latin typeface="Arial" panose="020B0604020202020204"/>
              </a:defRPr>
            </a:pPr>
            <a:r>
              <a:t>数据流方向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635240" y="1325880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0D9A6"/>
                </a:solidFill>
                <a:latin typeface="Arial" panose="020B0604020202020204"/>
              </a:defRPr>
            </a:pPr>
            <a:r>
              <a:t>IMU → PID → 舵机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412480" y="48463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484F58"/>
                </a:solidFill>
                <a:latin typeface="Arial" panose="020B0604020202020204"/>
              </a:defRPr>
            </a:pPr>
            <a:r>
              <a:t>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6EDF3"/>
                </a:solidFill>
                <a:latin typeface="Arial" panose="020B0604020202020204"/>
              </a:defRPr>
            </a:pPr>
            <a:r>
              <a:t>JY901S IMU 传感器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  <a:latin typeface="Arial" panose="020B0604020202020204"/>
              </a:defRPr>
            </a:pPr>
            <a:r>
              <a:t>Nine-Axis Inertial Measurement Unit — 姿态数据采集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9144000" cy="25400"/>
          </a:xfrm>
          <a:prstGeom prst="rect">
            <a:avLst/>
          </a:prstGeom>
          <a:solidFill>
            <a:srgbClr val="00D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051560"/>
            <a:ext cx="4114800" cy="228600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1430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9A6"/>
                </a:solidFill>
                <a:latin typeface="Arial" panose="020B0604020202020204"/>
              </a:defRPr>
            </a:pPr>
            <a:r>
              <a:t>模块概述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55448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58A6FF"/>
                </a:solidFill>
                <a:latin typeface="Arial" panose="020B0604020202020204"/>
              </a:defRPr>
            </a:pPr>
            <a:r>
              <a:t>传感器类型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15544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6EDF3"/>
                </a:solidFill>
                <a:latin typeface="Arial" panose="020B0604020202020204"/>
              </a:defRPr>
            </a:pPr>
            <a:r>
              <a:t>九轴 IMU (加速度 + 陀螺仪 + 磁力计)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90195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58A6FF"/>
                </a:solidFill>
                <a:latin typeface="Arial" panose="020B0604020202020204"/>
              </a:defRPr>
            </a:pPr>
            <a:r>
              <a:t>输出数据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190195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6EDF3"/>
                </a:solidFill>
                <a:latin typeface="Arial" panose="020B0604020202020204"/>
              </a:defRPr>
            </a:pPr>
            <a:r>
              <a:t>姿态角 (roll/pitch/yaw) + 角速度 (wx/wy/wz)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249424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58A6FF"/>
                </a:solidFill>
                <a:latin typeface="Arial" panose="020B0604020202020204"/>
              </a:defRPr>
            </a:pPr>
            <a:r>
              <a:t>通信接口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2249424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6EDF3"/>
                </a:solidFill>
                <a:latin typeface="Arial" panose="020B0604020202020204"/>
              </a:defRPr>
            </a:pPr>
            <a:r>
              <a:t>USART2, 115200 baud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59689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58A6FF"/>
                </a:solidFill>
                <a:latin typeface="Arial" panose="020B0604020202020204"/>
              </a:defRPr>
            </a:pPr>
            <a:r>
              <a:t>接收方式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259689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6EDF3"/>
                </a:solidFill>
                <a:latin typeface="Arial" panose="020B0604020202020204"/>
              </a:defRPr>
            </a:pPr>
            <a:r>
              <a:t>DMA 循环接收 + IDLE 中断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94436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58A6FF"/>
                </a:solidFill>
                <a:latin typeface="Arial" panose="020B0604020202020204"/>
              </a:defRPr>
            </a:pPr>
            <a:r>
              <a:t>帧长度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294436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6EDF3"/>
                </a:solidFill>
                <a:latin typeface="Arial" panose="020B0604020202020204"/>
              </a:defRPr>
            </a:pPr>
            <a:r>
              <a:t>11 字节 (帧头 + 类型 + 8B数据 + 校验)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54880" y="1051560"/>
            <a:ext cx="4114800" cy="228600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83480" y="11430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8A6FF"/>
                </a:solidFill>
                <a:latin typeface="Arial" panose="020B0604020202020204"/>
              </a:defRPr>
            </a:pPr>
            <a:r>
              <a:t>协议帧格式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83480" y="15544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9E3D"/>
                </a:solidFill>
                <a:latin typeface="Arial" panose="020B0604020202020204"/>
              </a:defRPr>
            </a:pPr>
            <a:r>
              <a:t>帧头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80760" y="15544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6EDF3"/>
                </a:solidFill>
                <a:latin typeface="Arial" panose="020B0604020202020204"/>
              </a:defRPr>
            </a:pPr>
            <a:r>
              <a:t>0x55 (固定标识)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83480" y="190195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9E3D"/>
                </a:solidFill>
                <a:latin typeface="Arial" panose="020B0604020202020204"/>
              </a:defRPr>
            </a:pPr>
            <a:r>
              <a:t>类型码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190195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6EDF3"/>
                </a:solidFill>
                <a:latin typeface="Arial" panose="020B0604020202020204"/>
              </a:defRPr>
            </a:pPr>
            <a:r>
              <a:t>0x52=角速度 / 0x53=姿态角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83480" y="224942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9E3D"/>
                </a:solidFill>
                <a:latin typeface="Arial" panose="020B0604020202020204"/>
              </a:defRPr>
            </a:pPr>
            <a:r>
              <a:t>数据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80760" y="224942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6EDF3"/>
                </a:solidFill>
                <a:latin typeface="Arial" panose="020B0604020202020204"/>
              </a:defRPr>
            </a:pPr>
            <a:r>
              <a:t>8 字节 (int16, 小端序)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83480" y="2596896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9E3D"/>
                </a:solidFill>
                <a:latin typeface="Arial" panose="020B0604020202020204"/>
              </a:defRPr>
            </a:pPr>
            <a:r>
              <a:t>校验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80760" y="259689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6EDF3"/>
                </a:solidFill>
                <a:latin typeface="Arial" panose="020B0604020202020204"/>
              </a:defRPr>
            </a:pPr>
            <a:r>
              <a:t>1 字节校验和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83480" y="294436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9E3D"/>
                </a:solidFill>
                <a:latin typeface="Arial" panose="020B0604020202020204"/>
              </a:defRPr>
            </a:pPr>
            <a:r>
              <a:t>量程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80760" y="294436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6EDF3"/>
                </a:solidFill>
                <a:latin typeface="Arial" panose="020B0604020202020204"/>
              </a:defRPr>
            </a:pPr>
            <a:r>
              <a:t>角速度 ±2000°/s / 角度 ±180°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3566160"/>
            <a:ext cx="8229600" cy="128016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3611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9A6"/>
                </a:solidFill>
                <a:latin typeface="Arial" panose="020B0604020202020204"/>
              </a:defRPr>
            </a:pPr>
            <a:r>
              <a:t>数据接收流程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" y="3886200"/>
            <a:ext cx="1371600" cy="822960"/>
          </a:xfrm>
          <a:prstGeom prst="roundRect">
            <a:avLst/>
          </a:prstGeom>
          <a:solidFill>
            <a:srgbClr val="0F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3913632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0D9A6"/>
                </a:solidFill>
                <a:latin typeface="Arial" panose="020B0604020202020204"/>
              </a:defRPr>
            </a:pPr>
            <a:r>
              <a:t>USART2 DMA</a:t>
            </a:r>
            <a:br/>
            <a:r>
              <a:t>循环接收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42976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8B949E"/>
                </a:solidFill>
                <a:latin typeface="Arial" panose="020B0604020202020204"/>
              </a:defRPr>
            </a:pPr>
            <a:r>
              <a:t>dmaBuf[256]</a:t>
            </a:r>
            <a:br/>
            <a:r>
              <a:t>环形缓冲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84248" y="411480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D9A6"/>
                </a:solidFill>
                <a:latin typeface="Arial" panose="020B0604020202020204"/>
              </a:defRPr>
            </a:pPr>
            <a:r>
              <a:t>→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221992" y="3886200"/>
            <a:ext cx="1371600" cy="822960"/>
          </a:xfrm>
          <a:prstGeom prst="roundRect">
            <a:avLst/>
          </a:prstGeom>
          <a:solidFill>
            <a:srgbClr val="0F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267712" y="3913632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0D9A6"/>
                </a:solidFill>
                <a:latin typeface="Arial" panose="020B0604020202020204"/>
              </a:defRPr>
            </a:pPr>
            <a:r>
              <a:t>IDLE 中断</a:t>
            </a:r>
            <a:br/>
            <a:r>
              <a:t>记录写位置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67712" y="42976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8B949E"/>
                </a:solidFill>
                <a:latin typeface="Arial" panose="020B0604020202020204"/>
              </a:defRPr>
            </a:pPr>
            <a:r>
              <a:t>dmaPos =</a:t>
            </a:r>
            <a:br/>
            <a:r>
              <a:t>BUF_SIZE - CNDTR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11880" y="411480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D9A6"/>
                </a:solidFill>
                <a:latin typeface="Arial" panose="020B0604020202020204"/>
              </a:defRPr>
            </a:pPr>
            <a:r>
              <a:t>→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849624" y="3886200"/>
            <a:ext cx="1371600" cy="822960"/>
          </a:xfrm>
          <a:prstGeom prst="roundRect">
            <a:avLst/>
          </a:prstGeom>
          <a:solidFill>
            <a:srgbClr val="0F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895344" y="3913632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0D9A6"/>
                </a:solidFill>
                <a:latin typeface="Arial" panose="020B0604020202020204"/>
              </a:defRPr>
            </a:pPr>
            <a:r>
              <a:t>主循环 Poll</a:t>
            </a:r>
            <a:br/>
            <a:r>
              <a:t>逐字节消费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95344" y="42976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8B949E"/>
                </a:solidFill>
                <a:latin typeface="Arial" panose="020B0604020202020204"/>
              </a:defRPr>
            </a:pPr>
            <a:r>
              <a:t>processByte()</a:t>
            </a:r>
            <a:br/>
            <a:r>
              <a:t>状态机解析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239512" y="411480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D9A6"/>
                </a:solidFill>
                <a:latin typeface="Arial" panose="020B0604020202020204"/>
              </a:defRPr>
            </a:pPr>
            <a:r>
              <a:t>→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477256" y="3886200"/>
            <a:ext cx="1371600" cy="822960"/>
          </a:xfrm>
          <a:prstGeom prst="roundRect">
            <a:avLst/>
          </a:prstGeom>
          <a:solidFill>
            <a:srgbClr val="0F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522976" y="3913632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0D9A6"/>
                </a:solidFill>
                <a:latin typeface="Arial" panose="020B0604020202020204"/>
              </a:defRPr>
            </a:pPr>
            <a:r>
              <a:t>校验通过</a:t>
            </a:r>
            <a:br/>
            <a:r>
              <a:t>更新数据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522976" y="42976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8B949E"/>
                </a:solidFill>
                <a:latin typeface="Arial" panose="020B0604020202020204"/>
              </a:defRPr>
            </a:pPr>
            <a:r>
              <a:t>wx/wy/wz</a:t>
            </a:r>
            <a:br/>
            <a:r>
              <a:t>pitch/roll/yaw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67144" y="411480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D9A6"/>
                </a:solidFill>
                <a:latin typeface="Arial" panose="020B0604020202020204"/>
              </a:defRPr>
            </a:pPr>
            <a:r>
              <a:t>→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104888" y="3886200"/>
            <a:ext cx="1371600" cy="822960"/>
          </a:xfrm>
          <a:prstGeom prst="roundRect">
            <a:avLst/>
          </a:prstGeom>
          <a:solidFill>
            <a:srgbClr val="0F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150608" y="3913632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0D9A6"/>
                </a:solidFill>
                <a:latin typeface="Arial" panose="020B0604020202020204"/>
              </a:defRPr>
            </a:pPr>
            <a:r>
              <a:t>置位</a:t>
            </a:r>
            <a:br/>
            <a:r>
              <a:t>dataReady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150608" y="42976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8B949E"/>
                </a:solidFill>
                <a:latin typeface="Arial" panose="020B0604020202020204"/>
              </a:defRPr>
            </a:pPr>
            <a:r>
              <a:t>主循环读取</a:t>
            </a:r>
            <a:br/>
            <a:r>
              <a:t>驱动 PID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12480" y="48463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484F58"/>
                </a:solidFill>
                <a:latin typeface="Arial" panose="020B0604020202020204"/>
              </a:defRPr>
            </a:pPr>
            <a:r>
              <a:t>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6EDF3"/>
                </a:solidFill>
                <a:latin typeface="Arial" panose="020B0604020202020204"/>
              </a:defRPr>
            </a:pPr>
            <a:r>
              <a:t>IMU 解析状态机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  <a:latin typeface="Arial" panose="020B0604020202020204"/>
              </a:defRPr>
            </a:pPr>
            <a:r>
              <a:t>JY901S State Machine — processByte() 单字节解析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9144000" cy="25400"/>
          </a:xfrm>
          <a:prstGeom prst="rect">
            <a:avLst/>
          </a:prstGeom>
          <a:solidFill>
            <a:srgbClr val="00D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645920" cy="914400"/>
          </a:xfrm>
          <a:prstGeom prst="roundRect">
            <a:avLst/>
          </a:prstGeom>
          <a:solidFill>
            <a:srgbClr val="1C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1645920" cy="254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73736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58A6FF"/>
                </a:solidFill>
                <a:latin typeface="Arial" panose="020B0604020202020204"/>
              </a:defRPr>
            </a:pPr>
            <a:r>
              <a:t>WAIT_HEADER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05740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B949E"/>
                </a:solidFill>
                <a:latin typeface="Arial" panose="020B0604020202020204"/>
              </a:defRPr>
            </a:pPr>
            <a:r>
              <a:t>等待帧头</a:t>
            </a:r>
            <a:br/>
            <a:r>
              <a:t>(0x55)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34640" y="1645920"/>
            <a:ext cx="1645920" cy="914400"/>
          </a:xfrm>
          <a:prstGeom prst="roundRect">
            <a:avLst/>
          </a:prstGeom>
          <a:solidFill>
            <a:srgbClr val="1C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834640" y="1645920"/>
            <a:ext cx="1645920" cy="25400"/>
          </a:xfrm>
          <a:prstGeom prst="rect">
            <a:avLst/>
          </a:prstGeom>
          <a:solidFill>
            <a:srgbClr val="00D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26080" y="173736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9A6"/>
                </a:solidFill>
                <a:latin typeface="Arial" panose="020B0604020202020204"/>
              </a:defRPr>
            </a:pPr>
            <a:r>
              <a:t>WAIT_TYPE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205740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B949E"/>
                </a:solidFill>
                <a:latin typeface="Arial" panose="020B0604020202020204"/>
              </a:defRPr>
            </a:pPr>
            <a:r>
              <a:t>等待类型码</a:t>
            </a:r>
            <a:br/>
            <a:r>
              <a:t>(0x52 / 0x53)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37760" y="1645920"/>
            <a:ext cx="1645920" cy="914400"/>
          </a:xfrm>
          <a:prstGeom prst="roundRect">
            <a:avLst/>
          </a:prstGeom>
          <a:solidFill>
            <a:srgbClr val="1C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937760" y="1645920"/>
            <a:ext cx="1645920" cy="25400"/>
          </a:xfrm>
          <a:prstGeom prst="rect">
            <a:avLst/>
          </a:prstGeom>
          <a:solidFill>
            <a:srgbClr val="FF9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0" y="173736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9E3D"/>
                </a:solidFill>
                <a:latin typeface="Arial" panose="020B0604020202020204"/>
              </a:defRPr>
            </a:pPr>
            <a:r>
              <a:t>RECEIVING</a:t>
            </a:r>
            <a:br/>
            <a:r>
              <a:t>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205740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B949E"/>
                </a:solidFill>
                <a:latin typeface="Arial" panose="020B0604020202020204"/>
              </a:defRPr>
            </a:pPr>
            <a:r>
              <a:t>接收 8 字节</a:t>
            </a:r>
            <a:br/>
            <a:r>
              <a:t>数据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040880" y="1645920"/>
            <a:ext cx="1645920" cy="914400"/>
          </a:xfrm>
          <a:prstGeom prst="roundRect">
            <a:avLst/>
          </a:prstGeom>
          <a:solidFill>
            <a:srgbClr val="1C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040880" y="1645920"/>
            <a:ext cx="1645920" cy="25400"/>
          </a:xfrm>
          <a:prstGeom prst="rect">
            <a:avLst/>
          </a:prstGeom>
          <a:solidFill>
            <a:srgbClr val="CC8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0" y="173736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CC8844"/>
                </a:solidFill>
                <a:latin typeface="Arial" panose="020B0604020202020204"/>
              </a:defRPr>
            </a:pPr>
            <a:r>
              <a:t>校验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0" y="205740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B949E"/>
                </a:solidFill>
                <a:latin typeface="Arial" panose="020B0604020202020204"/>
              </a:defRPr>
            </a:pPr>
            <a:r>
              <a:t>校验通过?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40" y="17830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0D9A6"/>
                </a:solidFill>
                <a:latin typeface="Arial" panose="020B0604020202020204"/>
              </a:defRPr>
            </a:pPr>
            <a: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4560" y="214884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B949E"/>
                </a:solidFill>
                <a:latin typeface="Arial" panose="020B0604020202020204"/>
              </a:defRPr>
            </a:pPr>
            <a:r>
              <a:t>0x55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17830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0D9A6"/>
                </a:solidFill>
                <a:latin typeface="Arial" panose="020B0604020202020204"/>
              </a:defRPr>
            </a:pPr>
            <a: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0" y="214884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B949E"/>
                </a:solidFill>
                <a:latin typeface="Arial" panose="020B0604020202020204"/>
              </a:defRPr>
            </a:pPr>
            <a:r>
              <a:t>0x52/53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17830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0D9A6"/>
                </a:solidFill>
                <a:latin typeface="Arial" panose="020B0604020202020204"/>
              </a:defRPr>
            </a:pPr>
            <a: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14884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B949E"/>
                </a:solidFill>
                <a:latin typeface="Arial" panose="020B0604020202020204"/>
              </a:defRPr>
            </a:pPr>
            <a:r>
              <a:t>帧满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675120" y="2834640"/>
            <a:ext cx="1645920" cy="548640"/>
          </a:xfrm>
          <a:prstGeom prst="roundRect">
            <a:avLst/>
          </a:prstGeom>
          <a:solidFill>
            <a:srgbClr val="0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66560" y="288036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0D9A6"/>
                </a:solidFill>
                <a:latin typeface="Arial" panose="020B0604020202020204"/>
              </a:defRPr>
            </a:pPr>
            <a:r>
              <a:t>通过 → 解析 int16</a:t>
            </a:r>
            <a:br/>
            <a:r>
              <a:t>更新输出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675120" y="3520440"/>
            <a:ext cx="1645920" cy="457200"/>
          </a:xfrm>
          <a:prstGeom prst="roundRect">
            <a:avLst/>
          </a:prstGeom>
          <a:solidFill>
            <a:srgbClr val="2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0" y="356616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94560"/>
                </a:solidFill>
                <a:latin typeface="Arial" panose="020B0604020202020204"/>
              </a:defRPr>
            </a:pPr>
            <a:r>
              <a:t>失败 → 丢弃, 重置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2743200"/>
            <a:ext cx="5943600" cy="201168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28346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9A6"/>
                </a:solidFill>
                <a:latin typeface="Arial" panose="020B0604020202020204"/>
              </a:defRPr>
            </a:pPr>
            <a:r>
              <a:t>IDLE 中断处理流程 (jy901sOnIdleIrq)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315468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6EDF3"/>
                </a:solidFill>
                <a:latin typeface="Arial" panose="020B0604020202020204"/>
              </a:defRPr>
            </a:pPr>
            <a:r>
              <a:t>① 暂停 DMA 通道 (__HAL_DMA_DISABLE)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3392424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6EDF3"/>
                </a:solidFill>
                <a:latin typeface="Arial" panose="020B0604020202020204"/>
              </a:defRPr>
            </a:pPr>
            <a:r>
              <a:t>② 清除 IDLE 标志 (读 SR + DR)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363016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6EDF3"/>
                </a:solidFill>
                <a:latin typeface="Arial" panose="020B0604020202020204"/>
              </a:defRPr>
            </a:pPr>
            <a:r>
              <a:t>③ 记录 DMA 写位置: dmaPos = BUF_SIZE - CNDTR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3867912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6EDF3"/>
                </a:solidFill>
                <a:latin typeface="Arial" panose="020B0604020202020204"/>
              </a:defRPr>
            </a:pPr>
            <a:r>
              <a:t>④ 恢复 DMA 通道 (__HAL_DMA_ENABLE)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" y="4105656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6EDF3"/>
                </a:solidFill>
                <a:latin typeface="Arial" panose="020B0604020202020204"/>
              </a:defRPr>
            </a:pPr>
            <a:r>
              <a:t>⑤ 置位 idleFlag = 1 (通知主循环)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" y="4581144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58A6FF"/>
                </a:solidFill>
                <a:latin typeface="Arial" panose="020B0604020202020204"/>
              </a:defRPr>
            </a:pPr>
            <a:r>
              <a:t>关键: ISR 仅记录位置, 主循环消费数据, 无锁设计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80" y="48463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484F58"/>
                </a:solidFill>
                <a:latin typeface="Arial" panose="020B0604020202020204"/>
              </a:defRPr>
            </a:pPr>
            <a:r>
              <a:t>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6EDF3"/>
                </a:solidFill>
                <a:latin typeface="Arial" panose="020B0604020202020204"/>
              </a:defRPr>
            </a:pPr>
            <a:r>
              <a:t>AX-12A 舵机驱动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  <a:latin typeface="Arial" panose="020B0604020202020204"/>
              </a:defRPr>
            </a:pPr>
            <a:r>
              <a:t>Dynamixel Protocol 1.0 — RS485 半双工通信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9144000" cy="25400"/>
          </a:xfrm>
          <a:prstGeom prst="rect">
            <a:avLst/>
          </a:prstGeom>
          <a:solidFill>
            <a:srgbClr val="00D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051560"/>
            <a:ext cx="3931920" cy="182880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1430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9E3D"/>
                </a:solidFill>
                <a:latin typeface="Arial" panose="020B0604020202020204"/>
              </a:defRPr>
            </a:pPr>
            <a:r>
              <a:t>模块概述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50876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9E3D"/>
                </a:solidFill>
                <a:latin typeface="Arial" panose="020B0604020202020204"/>
              </a:defRPr>
            </a:pPr>
            <a:r>
              <a:t>通信总线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50876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6EDF3"/>
                </a:solidFill>
                <a:latin typeface="Arial" panose="020B0604020202020204"/>
              </a:defRPr>
            </a:pPr>
            <a:r>
              <a:t>USART3 + RS485 (MAX485)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78308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9E3D"/>
                </a:solidFill>
                <a:latin typeface="Arial" panose="020B0604020202020204"/>
              </a:defRPr>
            </a:pPr>
            <a:r>
              <a:t>波特率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178308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6EDF3"/>
                </a:solidFill>
                <a:latin typeface="Arial" panose="020B0604020202020204"/>
              </a:defRPr>
            </a:pPr>
            <a:r>
              <a:t>1,000,000 bps (1Mbps)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05740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9E3D"/>
                </a:solidFill>
                <a:latin typeface="Arial" panose="020B0604020202020204"/>
              </a:defRPr>
            </a:pPr>
            <a:r>
              <a:t>方向控制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05740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6EDF3"/>
                </a:solidFill>
                <a:latin typeface="Arial" panose="020B0604020202020204"/>
              </a:defRPr>
            </a:pPr>
            <a:r>
              <a:t>GPIO PB5 (高=发送 / 低=接收)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33172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9E3D"/>
                </a:solidFill>
                <a:latin typeface="Arial" panose="020B0604020202020204"/>
              </a:defRPr>
            </a:pPr>
            <a:r>
              <a:t>舵机数量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233172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6EDF3"/>
                </a:solidFill>
                <a:latin typeface="Arial" panose="020B0604020202020204"/>
              </a:defRPr>
            </a:pPr>
            <a:r>
              <a:t>3 个 (Pitch ID=1, Roll ID=2, Yaw ID=3)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606039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9E3D"/>
                </a:solidFill>
                <a:latin typeface="Arial" panose="020B0604020202020204"/>
              </a:defRPr>
            </a:pPr>
            <a:r>
              <a:t>位置范围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2606039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6EDF3"/>
                </a:solidFill>
                <a:latin typeface="Arial" panose="020B0604020202020204"/>
              </a:defRPr>
            </a:pPr>
            <a:r>
              <a:t>0~1023 (对应 0°~300°)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1051560"/>
            <a:ext cx="4297680" cy="182880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00600" y="1143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9E3D"/>
                </a:solidFill>
                <a:latin typeface="Arial" panose="020B0604020202020204"/>
              </a:defRPr>
            </a:pPr>
            <a:r>
              <a:t>Dynamixel 指令包格式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0600" y="150876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58A6FF"/>
                </a:solidFill>
                <a:latin typeface="Arial" panose="020B0604020202020204"/>
              </a:defRPr>
            </a:pPr>
            <a:r>
              <a:t>帧头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0" y="150876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6EDF3"/>
                </a:solidFill>
                <a:latin typeface="Consolas" panose="020B0609020204030204"/>
              </a:defRPr>
            </a:pPr>
            <a:r>
              <a:t>0xFF 0xFF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00600" y="173736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58A6FF"/>
                </a:solidFill>
                <a:latin typeface="Arial" panose="020B0604020202020204"/>
              </a:defRPr>
            </a:pPr>
            <a:r>
              <a:t>ID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60720" y="173736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6EDF3"/>
                </a:solidFill>
                <a:latin typeface="Consolas" panose="020B0609020204030204"/>
              </a:defRPr>
            </a:pPr>
            <a:r>
              <a:t>舵机 ID (1/2/3)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00600" y="196596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58A6FF"/>
                </a:solidFill>
                <a:latin typeface="Arial" panose="020B0604020202020204"/>
              </a:defRPr>
            </a:pPr>
            <a:r>
              <a:t>长度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720" y="196596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6EDF3"/>
                </a:solidFill>
                <a:latin typeface="Consolas" panose="020B0609020204030204"/>
              </a:defRPr>
            </a:pPr>
            <a:r>
              <a:t>参数长度 + 3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00600" y="219456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58A6FF"/>
                </a:solidFill>
                <a:latin typeface="Arial" panose="020B0604020202020204"/>
              </a:defRPr>
            </a:pPr>
            <a:r>
              <a:t>指令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60720" y="219456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6EDF3"/>
                </a:solidFill>
                <a:latin typeface="Consolas" panose="020B0609020204030204"/>
              </a:defRPr>
            </a:pPr>
            <a:r>
              <a:t>0x03 (WRITE)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00600" y="242316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58A6FF"/>
                </a:solidFill>
                <a:latin typeface="Arial" panose="020B0604020202020204"/>
              </a:defRPr>
            </a:pPr>
            <a:r>
              <a:t>参数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60720" y="242316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6EDF3"/>
                </a:solidFill>
                <a:latin typeface="Consolas" panose="020B0609020204030204"/>
              </a:defRPr>
            </a:pPr>
            <a:r>
              <a:t>寄存器地址 + 数据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00600" y="265176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58A6FF"/>
                </a:solidFill>
                <a:latin typeface="Arial" panose="020B0604020202020204"/>
              </a:defRPr>
            </a:pPr>
            <a:r>
              <a:t>校验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60720" y="265176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6EDF3"/>
                </a:solidFill>
                <a:latin typeface="Consolas" panose="020B0609020204030204"/>
              </a:defRPr>
            </a:pPr>
            <a:r>
              <a:t>~(ID+Len+Inst+Params)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3108960"/>
            <a:ext cx="8229600" cy="173736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32004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9E3D"/>
                </a:solidFill>
                <a:latin typeface="Arial" panose="020B0604020202020204"/>
              </a:defRPr>
            </a:pPr>
            <a:r>
              <a:t>sendPacket() 发送流程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3520440"/>
            <a:ext cx="1143000" cy="822960"/>
          </a:xfrm>
          <a:prstGeom prst="roundRect">
            <a:avLst/>
          </a:prstGeom>
          <a:solidFill>
            <a:srgbClr val="201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48640" y="3520440"/>
            <a:ext cx="1143000" cy="25400"/>
          </a:xfrm>
          <a:prstGeom prst="rect">
            <a:avLst/>
          </a:prstGeom>
          <a:solidFill>
            <a:srgbClr val="FF9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4360" y="3566160"/>
            <a:ext cx="1051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9E3D"/>
                </a:solidFill>
                <a:latin typeface="Arial" panose="020B0604020202020204"/>
              </a:defRPr>
            </a:pPr>
            <a:r>
              <a:t>清除 ORE</a:t>
            </a:r>
            <a:br/>
            <a:r>
              <a:t>溢出标志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3977639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8B949E"/>
                </a:solidFill>
                <a:latin typeface="Arial" panose="020B0604020202020204"/>
              </a:defRPr>
            </a:pPr>
            <a:r>
              <a:t>读 SR + DR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709928" y="3703320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9E3D"/>
                </a:solidFill>
                <a:latin typeface="Arial" panose="020B0604020202020204"/>
              </a:defRPr>
            </a:pPr>
            <a:r>
              <a:t>→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920240" y="3520440"/>
            <a:ext cx="1143000" cy="822960"/>
          </a:xfrm>
          <a:prstGeom prst="roundRect">
            <a:avLst/>
          </a:prstGeom>
          <a:solidFill>
            <a:srgbClr val="201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920240" y="3520440"/>
            <a:ext cx="1143000" cy="25400"/>
          </a:xfrm>
          <a:prstGeom prst="rect">
            <a:avLst/>
          </a:prstGeom>
          <a:solidFill>
            <a:srgbClr val="FF9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965960" y="3566160"/>
            <a:ext cx="1051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9E3D"/>
                </a:solidFill>
                <a:latin typeface="Arial" panose="020B0604020202020204"/>
              </a:defRPr>
            </a:pPr>
            <a:r>
              <a:t>RS485 发送</a:t>
            </a:r>
            <a:br/>
            <a:r>
              <a:t>方向切换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965960" y="3977639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8B949E"/>
                </a:solidFill>
                <a:latin typeface="Arial" panose="020B0604020202020204"/>
              </a:defRPr>
            </a:pPr>
            <a:r>
              <a:t>PB5 = HIGH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081528" y="3703320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9E3D"/>
                </a:solidFill>
                <a:latin typeface="Arial" panose="020B0604020202020204"/>
              </a:defRPr>
            </a:pPr>
            <a:r>
              <a:t>→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291840" y="3520440"/>
            <a:ext cx="1143000" cy="822960"/>
          </a:xfrm>
          <a:prstGeom prst="roundRect">
            <a:avLst/>
          </a:prstGeom>
          <a:solidFill>
            <a:srgbClr val="201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291840" y="3520440"/>
            <a:ext cx="1143000" cy="25400"/>
          </a:xfrm>
          <a:prstGeom prst="rect">
            <a:avLst/>
          </a:prstGeom>
          <a:solidFill>
            <a:srgbClr val="FF9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337560" y="3566160"/>
            <a:ext cx="1051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9E3D"/>
                </a:solidFill>
                <a:latin typeface="Arial" panose="020B0604020202020204"/>
              </a:defRPr>
            </a:pPr>
            <a:r>
              <a:t>阻塞发送</a:t>
            </a:r>
            <a:br/>
            <a:r>
              <a:t>指令包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337560" y="3977639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8B949E"/>
                </a:solidFill>
                <a:latin typeface="Arial" panose="020B0604020202020204"/>
              </a:defRPr>
            </a:pPr>
            <a:r>
              <a:t>HAL_UART_</a:t>
            </a:r>
            <a:br/>
            <a:r>
              <a:t>Transmit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453128" y="3703320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9E3D"/>
                </a:solidFill>
                <a:latin typeface="Arial" panose="020B0604020202020204"/>
              </a:defRPr>
            </a:pPr>
            <a:r>
              <a:t>→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663440" y="3520440"/>
            <a:ext cx="1143000" cy="822960"/>
          </a:xfrm>
          <a:prstGeom prst="roundRect">
            <a:avLst/>
          </a:prstGeom>
          <a:solidFill>
            <a:srgbClr val="201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663440" y="3520440"/>
            <a:ext cx="1143000" cy="25400"/>
          </a:xfrm>
          <a:prstGeom prst="rect">
            <a:avLst/>
          </a:prstGeom>
          <a:solidFill>
            <a:srgbClr val="FF9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09160" y="3566160"/>
            <a:ext cx="1051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9E3D"/>
                </a:solidFill>
                <a:latin typeface="Arial" panose="020B0604020202020204"/>
              </a:defRPr>
            </a:pPr>
            <a:r>
              <a:t>等待 TC</a:t>
            </a:r>
            <a:br/>
            <a:r>
              <a:t>发送完成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709160" y="3977639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8B949E"/>
                </a:solidFill>
                <a:latin typeface="Arial" panose="020B0604020202020204"/>
              </a:defRPr>
            </a:pPr>
            <a:r>
              <a:t>100ms 超时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824728" y="3703320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9E3D"/>
                </a:solidFill>
                <a:latin typeface="Arial" panose="020B0604020202020204"/>
              </a:defRPr>
            </a:pPr>
            <a:r>
              <a:t>→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035040" y="3520440"/>
            <a:ext cx="1143000" cy="822960"/>
          </a:xfrm>
          <a:prstGeom prst="roundRect">
            <a:avLst/>
          </a:prstGeom>
          <a:solidFill>
            <a:srgbClr val="201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035040" y="3520440"/>
            <a:ext cx="1143000" cy="25400"/>
          </a:xfrm>
          <a:prstGeom prst="rect">
            <a:avLst/>
          </a:prstGeom>
          <a:solidFill>
            <a:srgbClr val="FF9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080760" y="3566160"/>
            <a:ext cx="1051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9E3D"/>
                </a:solidFill>
                <a:latin typeface="Arial" panose="020B0604020202020204"/>
              </a:defRPr>
            </a:pPr>
            <a:r>
              <a:t>切回接收</a:t>
            </a:r>
            <a:br/>
            <a:r>
              <a:t>模式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080760" y="3977639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8B949E"/>
                </a:solidFill>
                <a:latin typeface="Arial" panose="020B0604020202020204"/>
              </a:defRPr>
            </a:pPr>
            <a:r>
              <a:t>PB5 = LOW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196328" y="3703320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9E3D"/>
                </a:solidFill>
                <a:latin typeface="Arial" panose="020B0604020202020204"/>
              </a:defRPr>
            </a:pPr>
            <a:r>
              <a:t>→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406640" y="3520440"/>
            <a:ext cx="1143000" cy="822960"/>
          </a:xfrm>
          <a:prstGeom prst="roundRect">
            <a:avLst/>
          </a:prstGeom>
          <a:solidFill>
            <a:srgbClr val="201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406640" y="3520440"/>
            <a:ext cx="1143000" cy="25400"/>
          </a:xfrm>
          <a:prstGeom prst="rect">
            <a:avLst/>
          </a:prstGeom>
          <a:solidFill>
            <a:srgbClr val="FF9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452360" y="3566160"/>
            <a:ext cx="1051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9E3D"/>
                </a:solidFill>
                <a:latin typeface="Arial" panose="020B0604020202020204"/>
              </a:defRPr>
            </a:pPr>
            <a:r>
              <a:t>延时稳定</a:t>
            </a:r>
            <a:br/>
            <a:r>
              <a:t>~20μs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452360" y="3977639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8B949E"/>
                </a:solidFill>
                <a:latin typeface="Arial" panose="020B0604020202020204"/>
              </a:defRPr>
            </a:pPr>
            <a:r>
              <a:t>MAX485</a:t>
            </a:r>
            <a:br/>
            <a:r>
              <a:t>方向切换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412480" y="48463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484F58"/>
                </a:solidFill>
                <a:latin typeface="Arial" panose="020B0604020202020204"/>
              </a:defRPr>
            </a:pPr>
            <a:r>
              <a:t>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6EDF3"/>
                </a:solidFill>
                <a:latin typeface="Arial" panose="020B0604020202020204"/>
              </a:defRPr>
            </a:pPr>
            <a:r>
              <a:t>串级 PID 控制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  <a:latin typeface="Arial" panose="020B0604020202020204"/>
              </a:defRPr>
            </a:pPr>
            <a:r>
              <a:t>Cascaded PID Controller — 外环角度 + 内环角速度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9144000" cy="25400"/>
          </a:xfrm>
          <a:prstGeom prst="rect">
            <a:avLst/>
          </a:prstGeom>
          <a:solidFill>
            <a:srgbClr val="00D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3840480" cy="164592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97280"/>
            <a:ext cx="3840480" cy="254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1887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58A6FF"/>
                </a:solidFill>
                <a:latin typeface="Arial" panose="020B0604020202020204"/>
              </a:defRPr>
            </a:pPr>
            <a:r>
              <a:t>外环 — 角度控制 (20Hz)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554480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6EDF3"/>
                </a:solidFill>
                <a:latin typeface="Arial" panose="020B0604020202020204"/>
              </a:defRPr>
            </a:pPr>
            <a:r>
              <a:t>▸ 输入: IMU 姿态角 (pitch / roll / yaw)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773936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6EDF3"/>
                </a:solidFill>
                <a:latin typeface="Arial" panose="020B0604020202020204"/>
              </a:defRPr>
            </a:pPr>
            <a:r>
              <a:t>▸ 误差: targetAngle − currentAngle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993391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6EDF3"/>
                </a:solidFill>
                <a:latin typeface="Arial" panose="020B0604020202020204"/>
              </a:defRPr>
            </a:pPr>
            <a:r>
              <a:t>▸ 死区: 0.5° (消除微小振荡)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212848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6EDF3"/>
                </a:solidFill>
                <a:latin typeface="Arial" panose="020B0604020202020204"/>
              </a:defRPr>
            </a:pPr>
            <a:r>
              <a:t>▸ 积分分离: 误差 &gt; 20° 时停止积分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432304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6EDF3"/>
                </a:solidFill>
                <a:latin typeface="Arial" panose="020B0604020202020204"/>
              </a:defRPr>
            </a:pPr>
            <a:r>
              <a:t>▸ 输出限幅: ±120°/s (目标角速度)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0" y="1097280"/>
            <a:ext cx="4297680" cy="164592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0" y="1097280"/>
            <a:ext cx="4297680" cy="25400"/>
          </a:xfrm>
          <a:prstGeom prst="rect">
            <a:avLst/>
          </a:prstGeom>
          <a:solidFill>
            <a:srgbClr val="00D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00600" y="11887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9A6"/>
                </a:solidFill>
                <a:latin typeface="Arial" panose="020B0604020202020204"/>
              </a:defRPr>
            </a:pPr>
            <a:r>
              <a:t>内环 — 角速度控制 (100Hz)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0600" y="1554480"/>
            <a:ext cx="3931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6EDF3"/>
                </a:solidFill>
                <a:latin typeface="Arial" panose="020B0604020202020204"/>
              </a:defRPr>
            </a:pPr>
            <a:r>
              <a:t>▸ 输入: IMU 角速度 (wx / wy / wz)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0600" y="1773936"/>
            <a:ext cx="3931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6EDF3"/>
                </a:solidFill>
                <a:latin typeface="Arial" panose="020B0604020202020204"/>
              </a:defRPr>
            </a:pPr>
            <a:r>
              <a:t>▸ 滤波: PI项低通15Hz + D项巴特沃斯53Hz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0600" y="1993391"/>
            <a:ext cx="3931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6EDF3"/>
                </a:solidFill>
                <a:latin typeface="Arial" panose="020B0604020202020204"/>
              </a:defRPr>
            </a:pPr>
            <a:r>
              <a:t>▸ 死区: 1.0°/s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0600" y="2212848"/>
            <a:ext cx="3931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6EDF3"/>
                </a:solidFill>
                <a:latin typeface="Arial" panose="020B0604020202020204"/>
              </a:defRPr>
            </a:pPr>
            <a:r>
              <a:t>▸ 积分限幅: ±100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00600" y="2432304"/>
            <a:ext cx="3931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6EDF3"/>
                </a:solidFill>
                <a:latin typeface="Arial" panose="020B0604020202020204"/>
              </a:defRPr>
            </a:pPr>
            <a:r>
              <a:t>▸ 输出限幅: ±60° (舵机修正角度)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17373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D9A6"/>
                </a:solidFill>
                <a:latin typeface="Arial" panose="020B0604020202020204"/>
              </a:defRPr>
            </a:pPr>
            <a: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60520" y="20574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B949E"/>
                </a:solidFill>
                <a:latin typeface="Arial" panose="020B0604020202020204"/>
              </a:defRPr>
            </a:pPr>
            <a:r>
              <a:t>目标</a:t>
            </a:r>
            <a:br/>
            <a:r>
              <a:t>角速度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2926080"/>
            <a:ext cx="8229600" cy="192024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2971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9A6"/>
                </a:solidFill>
                <a:latin typeface="Arial" panose="020B0604020202020204"/>
              </a:defRPr>
            </a:pPr>
            <a:r>
              <a:t>控制数据流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3383280"/>
            <a:ext cx="1188720" cy="685800"/>
          </a:xfrm>
          <a:prstGeom prst="roundRect">
            <a:avLst/>
          </a:prstGeom>
          <a:solidFill>
            <a:srgbClr val="0F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3383280"/>
            <a:ext cx="1188720" cy="254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3429000"/>
            <a:ext cx="1097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58A6FF"/>
                </a:solidFill>
                <a:latin typeface="Arial" panose="020B0604020202020204"/>
              </a:defRPr>
            </a:pPr>
            <a:r>
              <a:t>目标角度</a:t>
            </a:r>
            <a:br/>
            <a:r>
              <a:t>targetAngle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920240" y="3383280"/>
            <a:ext cx="1188720" cy="685800"/>
          </a:xfrm>
          <a:prstGeom prst="roundRect">
            <a:avLst/>
          </a:prstGeom>
          <a:solidFill>
            <a:srgbClr val="0F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920240" y="3383280"/>
            <a:ext cx="1188720" cy="254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965960" y="3429000"/>
            <a:ext cx="1097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58A6FF"/>
                </a:solidFill>
                <a:latin typeface="Arial" panose="020B0604020202020204"/>
              </a:defRPr>
            </a:pPr>
            <a:r>
              <a:t>外环 PID</a:t>
            </a:r>
            <a:br/>
            <a:r>
              <a:t>20Hz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291840" y="3383280"/>
            <a:ext cx="1188720" cy="685800"/>
          </a:xfrm>
          <a:prstGeom prst="roundRect">
            <a:avLst/>
          </a:prstGeom>
          <a:solidFill>
            <a:srgbClr val="0F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291840" y="3383280"/>
            <a:ext cx="1188720" cy="25400"/>
          </a:xfrm>
          <a:prstGeom prst="rect">
            <a:avLst/>
          </a:prstGeom>
          <a:solidFill>
            <a:srgbClr val="00D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37560" y="3429000"/>
            <a:ext cx="1097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D9A6"/>
                </a:solidFill>
                <a:latin typeface="Arial" panose="020B0604020202020204"/>
              </a:defRPr>
            </a:pPr>
            <a:r>
              <a:t>目标角速度</a:t>
            </a:r>
            <a:br/>
            <a:r>
              <a:t>outVel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663440" y="3383280"/>
            <a:ext cx="1188720" cy="685800"/>
          </a:xfrm>
          <a:prstGeom prst="roundRect">
            <a:avLst/>
          </a:prstGeom>
          <a:solidFill>
            <a:srgbClr val="0F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663440" y="3383280"/>
            <a:ext cx="1188720" cy="25400"/>
          </a:xfrm>
          <a:prstGeom prst="rect">
            <a:avLst/>
          </a:prstGeom>
          <a:solidFill>
            <a:srgbClr val="00D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09160" y="3429000"/>
            <a:ext cx="1097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D9A6"/>
                </a:solidFill>
                <a:latin typeface="Arial" panose="020B0604020202020204"/>
              </a:defRPr>
            </a:pPr>
            <a:r>
              <a:t>内环 PID</a:t>
            </a:r>
            <a:br/>
            <a:r>
              <a:t>100Hz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035040" y="3383280"/>
            <a:ext cx="1188720" cy="685800"/>
          </a:xfrm>
          <a:prstGeom prst="roundRect">
            <a:avLst/>
          </a:prstGeom>
          <a:solidFill>
            <a:srgbClr val="0F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035040" y="3383280"/>
            <a:ext cx="1188720" cy="25400"/>
          </a:xfrm>
          <a:prstGeom prst="rect">
            <a:avLst/>
          </a:prstGeom>
          <a:solidFill>
            <a:srgbClr val="FF9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080760" y="3429000"/>
            <a:ext cx="1097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9E3D"/>
                </a:solidFill>
                <a:latin typeface="Arial" panose="020B0604020202020204"/>
              </a:defRPr>
            </a:pPr>
            <a:r>
              <a:t>舵机修正量</a:t>
            </a:r>
            <a:br/>
            <a:r>
              <a:t>deltaPos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406640" y="3383280"/>
            <a:ext cx="1188720" cy="685800"/>
          </a:xfrm>
          <a:prstGeom prst="roundRect">
            <a:avLst/>
          </a:prstGeom>
          <a:solidFill>
            <a:srgbClr val="0F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406640" y="3383280"/>
            <a:ext cx="1188720" cy="25400"/>
          </a:xfrm>
          <a:prstGeom prst="rect">
            <a:avLst/>
          </a:prstGeom>
          <a:solidFill>
            <a:srgbClr val="FF9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452360" y="3429000"/>
            <a:ext cx="1097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9E3D"/>
                </a:solidFill>
                <a:latin typeface="Arial" panose="020B0604020202020204"/>
              </a:defRPr>
            </a:pPr>
            <a:r>
              <a:t>AX-12A</a:t>
            </a:r>
            <a:br/>
            <a:r>
              <a:t>舵机输出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755648" y="356616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84F58"/>
                </a:solidFill>
                <a:latin typeface="Arial" panose="020B0604020202020204"/>
              </a:defRPr>
            </a:pPr>
            <a:r>
              <a:t>→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127248" y="356616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84F58"/>
                </a:solidFill>
                <a:latin typeface="Arial" panose="020B0604020202020204"/>
              </a:defRPr>
            </a:pPr>
            <a:r>
              <a:t>→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98848" y="356616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84F58"/>
                </a:solidFill>
                <a:latin typeface="Arial" panose="020B0604020202020204"/>
              </a:defRPr>
            </a:pPr>
            <a:r>
              <a:t>→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70448" y="356616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84F58"/>
                </a:solidFill>
                <a:latin typeface="Arial" panose="020B0604020202020204"/>
              </a:defRPr>
            </a:pPr>
            <a:r>
              <a:t>→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42048" y="356616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84F58"/>
                </a:solidFill>
                <a:latin typeface="Arial" panose="020B0604020202020204"/>
              </a:defRPr>
            </a:pPr>
            <a:r>
              <a:t>→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920240" y="4251960"/>
            <a:ext cx="5120640" cy="457200"/>
          </a:xfrm>
          <a:prstGeom prst="roundRect">
            <a:avLst/>
          </a:prstGeom>
          <a:solidFill>
            <a:srgbClr val="0A1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011680" y="429768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0D9A6"/>
                </a:solidFill>
                <a:latin typeface="Arial" panose="020B0604020202020204"/>
              </a:defRPr>
            </a:pPr>
            <a:r>
              <a:t>IMU 反馈: 姿态角 → 外环  |  角速度 → 内环  (100Hz 周期)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12480" y="48463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484F58"/>
                </a:solidFill>
                <a:latin typeface="Arial" panose="020B0604020202020204"/>
              </a:defRPr>
            </a:pPr>
            <a:r>
              <a:t>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6EDF3"/>
                </a:solidFill>
                <a:latin typeface="Arial" panose="020B0604020202020204"/>
              </a:defRPr>
            </a:pPr>
            <a:r>
              <a:t>PID 调参结果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  <a:latin typeface="Arial" panose="020B0604020202020204"/>
              </a:defRPr>
            </a:pPr>
            <a:r>
              <a:t>Tuned Parameters — 外环/内环分组 + 三轴对比 + 控制宏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9144000" cy="25400"/>
          </a:xfrm>
          <a:prstGeom prst="rect">
            <a:avLst/>
          </a:prstGeom>
          <a:solidFill>
            <a:srgbClr val="00D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" y="960120"/>
            <a:ext cx="8412480" cy="54864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058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B949E"/>
                </a:solidFill>
                <a:latin typeface="Arial" panose="020B0604020202020204"/>
              </a:defRPr>
            </a:pPr>
            <a:r>
              <a:t>控制架构: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02412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58A6FF"/>
                </a:solidFill>
                <a:latin typeface="Arial" panose="020B0604020202020204"/>
              </a:defRPr>
            </a:pPr>
            <a:r>
              <a:t>目标角度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40280" y="102412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84F58"/>
                </a:solidFill>
                <a:latin typeface="Arial" panose="020B0604020202020204"/>
              </a:defRPr>
            </a:pPr>
            <a: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23160" y="102412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58A6FF"/>
                </a:solidFill>
                <a:latin typeface="Arial" panose="020B0604020202020204"/>
              </a:defRPr>
            </a:pPr>
            <a:r>
              <a:t>外环 PID  20Hz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102412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84F58"/>
                </a:solidFill>
                <a:latin typeface="Arial" panose="020B0604020202020204"/>
              </a:defRPr>
            </a:pPr>
            <a: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102412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D9A6"/>
                </a:solidFill>
                <a:latin typeface="Arial" panose="020B0604020202020204"/>
              </a:defRPr>
            </a:pPr>
            <a:r>
              <a:t>目标角速度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102412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84F58"/>
                </a:solidFill>
                <a:latin typeface="Arial" panose="020B0604020202020204"/>
              </a:defRPr>
            </a:pPr>
            <a: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102412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D9A6"/>
                </a:solidFill>
                <a:latin typeface="Arial" panose="020B0604020202020204"/>
              </a:defRPr>
            </a:pPr>
            <a:r>
              <a:t>内环 PID  100Hz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89320" y="102412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84F58"/>
                </a:solidFill>
                <a:latin typeface="Arial" panose="020B0604020202020204"/>
              </a:defRPr>
            </a:pPr>
            <a: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102412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9E3D"/>
                </a:solidFill>
                <a:latin typeface="Arial" panose="020B0604020202020204"/>
              </a:defRPr>
            </a:pPr>
            <a:r>
              <a:t>舵机输出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1645920"/>
            <a:ext cx="4023360" cy="210312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1645920"/>
            <a:ext cx="4023360" cy="254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171907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58A6FF"/>
                </a:solidFill>
                <a:latin typeface="Arial" panose="020B0604020202020204"/>
              </a:defRPr>
            </a:pPr>
            <a:r>
              <a:t>外环参数 — 角度控制  20Hz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965960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49E"/>
                </a:solidFill>
                <a:latin typeface="Arial" panose="020B0604020202020204"/>
              </a:defRPr>
            </a:pPr>
            <a:r>
              <a:t>外环周期 0.05s  |  死区 0.5°  |  积分分离 20°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548640" y="2194560"/>
          <a:ext cx="356616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822960"/>
                <a:gridCol w="822960"/>
                <a:gridCol w="822960"/>
              </a:tblGrid>
              <a:tr h="27432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58A6FF"/>
                          </a:solidFill>
                          <a:latin typeface="Arial" panose="020B0604020202020204"/>
                        </a:defRPr>
                      </a:pPr>
                      <a:r>
                        <a:t>参数</a:t>
                      </a:r>
                    </a:p>
                  </a:txBody>
                  <a:tcPr>
                    <a:solidFill>
                      <a:srgbClr val="0A1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58A6FF"/>
                          </a:solidFill>
                          <a:latin typeface="Arial" panose="020B0604020202020204"/>
                        </a:defRPr>
                      </a:pPr>
                      <a:r>
                        <a:t>Pitch</a:t>
                      </a:r>
                    </a:p>
                  </a:txBody>
                  <a:tcPr>
                    <a:solidFill>
                      <a:srgbClr val="0A1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58A6FF"/>
                          </a:solidFill>
                          <a:latin typeface="Arial" panose="020B0604020202020204"/>
                        </a:defRPr>
                      </a:pPr>
                      <a:r>
                        <a:t>Roll</a:t>
                      </a:r>
                    </a:p>
                  </a:txBody>
                  <a:tcPr>
                    <a:solidFill>
                      <a:srgbClr val="0A1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58A6FF"/>
                          </a:solidFill>
                          <a:latin typeface="Arial" panose="020B0604020202020204"/>
                        </a:defRPr>
                      </a:pPr>
                      <a:r>
                        <a:t>Yaw</a:t>
                      </a:r>
                    </a:p>
                  </a:txBody>
                  <a:tcPr>
                    <a:solidFill>
                      <a:srgbClr val="0A1A3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E6EDF3"/>
                          </a:solidFill>
                          <a:latin typeface="Arial" panose="020B0604020202020204"/>
                        </a:defRPr>
                      </a:pPr>
                      <a:r>
                        <a:t>Kp (比例)</a:t>
                      </a:r>
                    </a:p>
                  </a:txBody>
                  <a:tcPr>
                    <a:solidFill>
                      <a:srgbClr val="1017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E6EDF3"/>
                          </a:solidFill>
                          <a:latin typeface="Arial" panose="020B0604020202020204"/>
                        </a:defRPr>
                      </a:pPr>
                      <a:r>
                        <a:t>10.0</a:t>
                      </a:r>
                    </a:p>
                  </a:txBody>
                  <a:tcPr>
                    <a:solidFill>
                      <a:srgbClr val="1017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9E3D"/>
                          </a:solidFill>
                          <a:latin typeface="Arial" panose="020B0604020202020204"/>
                        </a:defRPr>
                      </a:pPr>
                      <a:r>
                        <a:t>6.0</a:t>
                      </a:r>
                    </a:p>
                  </a:txBody>
                  <a:tcPr>
                    <a:solidFill>
                      <a:srgbClr val="1017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9E3D"/>
                          </a:solidFill>
                          <a:latin typeface="Arial" panose="020B0604020202020204"/>
                        </a:defRPr>
                      </a:pPr>
                      <a:r>
                        <a:t>6.0</a:t>
                      </a:r>
                    </a:p>
                  </a:txBody>
                  <a:tcPr>
                    <a:solidFill>
                      <a:srgbClr val="10171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E6EDF3"/>
                          </a:solidFill>
                          <a:latin typeface="Arial" panose="020B0604020202020204"/>
                        </a:defRPr>
                      </a:pPr>
                      <a:r>
                        <a:t>Ki (积分)</a:t>
                      </a:r>
                    </a:p>
                  </a:txBody>
                  <a:tcPr>
                    <a:solidFill>
                      <a:srgbClr val="151C2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E6EDF3"/>
                          </a:solidFill>
                          <a:latin typeface="Arial" panose="020B0604020202020204"/>
                        </a:defRPr>
                      </a:pPr>
                      <a:r>
                        <a:t>0.1</a:t>
                      </a:r>
                    </a:p>
                  </a:txBody>
                  <a:tcPr>
                    <a:solidFill>
                      <a:srgbClr val="151C2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E6EDF3"/>
                          </a:solidFill>
                          <a:latin typeface="Arial" panose="020B0604020202020204"/>
                        </a:defRPr>
                      </a:pPr>
                      <a:r>
                        <a:t>0.1</a:t>
                      </a:r>
                    </a:p>
                  </a:txBody>
                  <a:tcPr>
                    <a:solidFill>
                      <a:srgbClr val="151C2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9E3D"/>
                          </a:solidFill>
                          <a:latin typeface="Arial" panose="020B0604020202020204"/>
                        </a:defRPr>
                      </a:pPr>
                      <a:r>
                        <a:t>1.5</a:t>
                      </a:r>
                    </a:p>
                  </a:txBody>
                  <a:tcPr>
                    <a:solidFill>
                      <a:srgbClr val="151C2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E6EDF3"/>
                          </a:solidFill>
                          <a:latin typeface="Arial" panose="020B0604020202020204"/>
                        </a:defRPr>
                      </a:pPr>
                      <a:r>
                        <a:t>Kd (微分)</a:t>
                      </a:r>
                    </a:p>
                  </a:txBody>
                  <a:tcPr>
                    <a:solidFill>
                      <a:srgbClr val="1017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E6EDF3"/>
                          </a:solidFill>
                          <a:latin typeface="Arial" panose="020B0604020202020204"/>
                        </a:defRPr>
                      </a:pPr>
                      <a:r>
                        <a:t>0.3</a:t>
                      </a:r>
                    </a:p>
                  </a:txBody>
                  <a:tcPr>
                    <a:solidFill>
                      <a:srgbClr val="1017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E6EDF3"/>
                          </a:solidFill>
                          <a:latin typeface="Arial" panose="020B0604020202020204"/>
                        </a:defRPr>
                      </a:pPr>
                      <a:r>
                        <a:t>0.3</a:t>
                      </a:r>
                    </a:p>
                  </a:txBody>
                  <a:tcPr>
                    <a:solidFill>
                      <a:srgbClr val="1017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9E3D"/>
                          </a:solidFill>
                          <a:latin typeface="Arial" panose="020B0604020202020204"/>
                        </a:defRPr>
                      </a:pPr>
                      <a:r>
                        <a:t>0.5</a:t>
                      </a:r>
                    </a:p>
                  </a:txBody>
                  <a:tcPr>
                    <a:solidFill>
                      <a:srgbClr val="10171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E6EDF3"/>
                          </a:solidFill>
                          <a:latin typeface="Arial" panose="020B0604020202020204"/>
                        </a:defRPr>
                      </a:pPr>
                      <a:r>
                        <a:t>输出限幅</a:t>
                      </a:r>
                    </a:p>
                  </a:txBody>
                  <a:tcPr>
                    <a:solidFill>
                      <a:srgbClr val="151C2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E6EDF3"/>
                          </a:solidFill>
                          <a:latin typeface="Arial" panose="020B0604020202020204"/>
                        </a:defRPr>
                      </a:pPr>
                      <a:r>
                        <a:t>±120°/s</a:t>
                      </a:r>
                    </a:p>
                  </a:txBody>
                  <a:tcPr>
                    <a:solidFill>
                      <a:srgbClr val="151C2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E6EDF3"/>
                          </a:solidFill>
                          <a:latin typeface="Arial" panose="020B0604020202020204"/>
                        </a:defRPr>
                      </a:pPr>
                      <a:r>
                        <a:t>±120°/s</a:t>
                      </a:r>
                    </a:p>
                  </a:txBody>
                  <a:tcPr>
                    <a:solidFill>
                      <a:srgbClr val="151C2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E6EDF3"/>
                          </a:solidFill>
                          <a:latin typeface="Arial" panose="020B0604020202020204"/>
                        </a:defRPr>
                      </a:pPr>
                      <a:r>
                        <a:t>±120°/s</a:t>
                      </a:r>
                    </a:p>
                  </a:txBody>
                  <a:tcPr>
                    <a:solidFill>
                      <a:srgbClr val="151C25"/>
                    </a:solidFill>
                  </a:tcPr>
                </a:tc>
              </a:tr>
            </a:tbl>
          </a:graphicData>
        </a:graphic>
      </p:graphicFrame>
      <p:sp>
        <p:nvSpPr>
          <p:cNvPr id="22" name="Rounded Rectangle 21"/>
          <p:cNvSpPr/>
          <p:nvPr/>
        </p:nvSpPr>
        <p:spPr>
          <a:xfrm>
            <a:off x="4572000" y="1645920"/>
            <a:ext cx="4206240" cy="210312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0" y="1645920"/>
            <a:ext cx="4206240" cy="25400"/>
          </a:xfrm>
          <a:prstGeom prst="rect">
            <a:avLst/>
          </a:prstGeom>
          <a:solidFill>
            <a:srgbClr val="00D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54880" y="171907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9A6"/>
                </a:solidFill>
                <a:latin typeface="Arial" panose="020B0604020202020204"/>
              </a:defRPr>
            </a:pPr>
            <a:r>
              <a:t>内环参数 — 角速度控制  100Hz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0" y="1965960"/>
            <a:ext cx="3840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49E"/>
                </a:solidFill>
                <a:latin typeface="Arial" panose="020B0604020202020204"/>
              </a:defRPr>
            </a:pPr>
            <a:r>
              <a:t>内环周期 0.01s  |  死区 1.0°/s  |  滤波 PI:15Hz D:53Hz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4754880" y="2194560"/>
          <a:ext cx="3657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822960"/>
                <a:gridCol w="822960"/>
                <a:gridCol w="914400"/>
              </a:tblGrid>
              <a:tr h="27432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D9A6"/>
                          </a:solidFill>
                          <a:latin typeface="Arial" panose="020B0604020202020204"/>
                        </a:defRPr>
                      </a:pPr>
                      <a:r>
                        <a:t>参数</a:t>
                      </a:r>
                    </a:p>
                  </a:txBody>
                  <a:tcPr>
                    <a:solidFill>
                      <a:srgbClr val="0A2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D9A6"/>
                          </a:solidFill>
                          <a:latin typeface="Arial" panose="020B0604020202020204"/>
                        </a:defRPr>
                      </a:pPr>
                      <a:r>
                        <a:t>Pitch</a:t>
                      </a:r>
                    </a:p>
                  </a:txBody>
                  <a:tcPr>
                    <a:solidFill>
                      <a:srgbClr val="0A2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D9A6"/>
                          </a:solidFill>
                          <a:latin typeface="Arial" panose="020B0604020202020204"/>
                        </a:defRPr>
                      </a:pPr>
                      <a:r>
                        <a:t>Roll</a:t>
                      </a:r>
                    </a:p>
                  </a:txBody>
                  <a:tcPr>
                    <a:solidFill>
                      <a:srgbClr val="0A2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D9A6"/>
                          </a:solidFill>
                          <a:latin typeface="Arial" panose="020B0604020202020204"/>
                        </a:defRPr>
                      </a:pPr>
                      <a:r>
                        <a:t>Yaw</a:t>
                      </a:r>
                    </a:p>
                  </a:txBody>
                  <a:tcPr>
                    <a:solidFill>
                      <a:srgbClr val="0A2A1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E6EDF3"/>
                          </a:solidFill>
                          <a:latin typeface="Arial" panose="020B0604020202020204"/>
                        </a:defRPr>
                      </a:pPr>
                      <a:r>
                        <a:t>Kp (比例)</a:t>
                      </a:r>
                    </a:p>
                  </a:txBody>
                  <a:tcPr>
                    <a:solidFill>
                      <a:srgbClr val="1017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E6EDF3"/>
                          </a:solidFill>
                          <a:latin typeface="Arial" panose="020B0604020202020204"/>
                        </a:defRPr>
                      </a:pPr>
                      <a:r>
                        <a:t>0.016</a:t>
                      </a:r>
                    </a:p>
                  </a:txBody>
                  <a:tcPr>
                    <a:solidFill>
                      <a:srgbClr val="1017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E6EDF3"/>
                          </a:solidFill>
                          <a:latin typeface="Arial" panose="020B0604020202020204"/>
                        </a:defRPr>
                      </a:pPr>
                      <a:r>
                        <a:t>0.016</a:t>
                      </a:r>
                    </a:p>
                  </a:txBody>
                  <a:tcPr>
                    <a:solidFill>
                      <a:srgbClr val="1017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E6EDF3"/>
                          </a:solidFill>
                          <a:latin typeface="Arial" panose="020B0604020202020204"/>
                        </a:defRPr>
                      </a:pPr>
                      <a:r>
                        <a:t>0.015</a:t>
                      </a:r>
                    </a:p>
                  </a:txBody>
                  <a:tcPr>
                    <a:solidFill>
                      <a:srgbClr val="10171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E6EDF3"/>
                          </a:solidFill>
                          <a:latin typeface="Arial" panose="020B0604020202020204"/>
                        </a:defRPr>
                      </a:pPr>
                      <a:r>
                        <a:t>Ki (积分)</a:t>
                      </a:r>
                    </a:p>
                  </a:txBody>
                  <a:tcPr>
                    <a:solidFill>
                      <a:srgbClr val="151C2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E6EDF3"/>
                          </a:solidFill>
                          <a:latin typeface="Arial" panose="020B0604020202020204"/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151C2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E6EDF3"/>
                          </a:solidFill>
                          <a:latin typeface="Arial" panose="020B0604020202020204"/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151C2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E6EDF3"/>
                          </a:solidFill>
                          <a:latin typeface="Arial" panose="020B0604020202020204"/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151C2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E6EDF3"/>
                          </a:solidFill>
                          <a:latin typeface="Arial" panose="020B0604020202020204"/>
                        </a:defRPr>
                      </a:pPr>
                      <a:r>
                        <a:t>Kd (微分)</a:t>
                      </a:r>
                    </a:p>
                  </a:txBody>
                  <a:tcPr>
                    <a:solidFill>
                      <a:srgbClr val="1017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E6EDF3"/>
                          </a:solidFill>
                          <a:latin typeface="Arial" panose="020B0604020202020204"/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1017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E6EDF3"/>
                          </a:solidFill>
                          <a:latin typeface="Arial" panose="020B0604020202020204"/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1017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E6EDF3"/>
                          </a:solidFill>
                          <a:latin typeface="Arial" panose="020B0604020202020204"/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10171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E6EDF3"/>
                          </a:solidFill>
                          <a:latin typeface="Arial" panose="020B0604020202020204"/>
                        </a:defRPr>
                      </a:pPr>
                      <a:r>
                        <a:t>输出限幅</a:t>
                      </a:r>
                    </a:p>
                  </a:txBody>
                  <a:tcPr>
                    <a:solidFill>
                      <a:srgbClr val="151C2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E6EDF3"/>
                          </a:solidFill>
                          <a:latin typeface="Arial" panose="020B0604020202020204"/>
                        </a:defRPr>
                      </a:pPr>
                      <a:r>
                        <a:t>±60°</a:t>
                      </a:r>
                    </a:p>
                  </a:txBody>
                  <a:tcPr>
                    <a:solidFill>
                      <a:srgbClr val="151C2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E6EDF3"/>
                          </a:solidFill>
                          <a:latin typeface="Arial" panose="020B0604020202020204"/>
                        </a:defRPr>
                      </a:pPr>
                      <a:r>
                        <a:t>±60°</a:t>
                      </a:r>
                    </a:p>
                  </a:txBody>
                  <a:tcPr>
                    <a:solidFill>
                      <a:srgbClr val="151C2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E6EDF3"/>
                          </a:solidFill>
                          <a:latin typeface="Arial" panose="020B0604020202020204"/>
                        </a:defRPr>
                      </a:pPr>
                      <a:r>
                        <a:t>±60°</a:t>
                      </a:r>
                    </a:p>
                  </a:txBody>
                  <a:tcPr>
                    <a:solidFill>
                      <a:srgbClr val="151C25"/>
                    </a:solidFill>
                  </a:tcPr>
                </a:tc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4754880" y="3611880"/>
            <a:ext cx="3840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9E3D"/>
                </a:solidFill>
                <a:latin typeface="Arial" panose="020B0604020202020204"/>
              </a:defRPr>
            </a:pPr>
            <a:r>
              <a:t>注: 内环 Ki/Kd 当前均为 0, 仅使用 P 控制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5760" y="3886200"/>
            <a:ext cx="4023360" cy="105156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65760" y="3886200"/>
            <a:ext cx="25400" cy="1051560"/>
          </a:xfrm>
          <a:prstGeom prst="rect">
            <a:avLst/>
          </a:prstGeom>
          <a:solidFill>
            <a:srgbClr val="BC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39319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C8CFF"/>
                </a:solidFill>
                <a:latin typeface="Arial" panose="020B0604020202020204"/>
              </a:defRPr>
            </a:pPr>
            <a:r>
              <a:t>滤波器参数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4206240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E6EDF3"/>
                </a:solidFill>
                <a:latin typeface="Arial" panose="020B0604020202020204"/>
              </a:defRPr>
            </a:pPr>
            <a:r>
              <a:t>PI项低通截止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11680" y="42062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C8CFF"/>
                </a:solidFill>
                <a:latin typeface="Consolas" panose="020B0609020204030204"/>
              </a:defRPr>
            </a:pPr>
            <a:r>
              <a:t>15.0 Hz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26080" y="4206240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8B949E"/>
                </a:solidFill>
                <a:latin typeface="Arial" panose="020B0604020202020204"/>
              </a:defRPr>
            </a:pPr>
            <a:r>
              <a:t>消除高频噪声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4434840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E6EDF3"/>
                </a:solidFill>
                <a:latin typeface="Arial" panose="020B0604020202020204"/>
              </a:defRPr>
            </a:pPr>
            <a:r>
              <a:t>D项巴特沃斯截止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11680" y="4434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C8CFF"/>
                </a:solidFill>
                <a:latin typeface="Consolas" panose="020B0609020204030204"/>
              </a:defRPr>
            </a:pPr>
            <a:r>
              <a:t>53.0 Hz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926080" y="4434840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8B949E"/>
                </a:solidFill>
                <a:latin typeface="Arial" panose="020B0604020202020204"/>
              </a:defRPr>
            </a:pPr>
            <a:r>
              <a:t>保留有效微分信号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4663440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E6EDF3"/>
                </a:solidFill>
                <a:latin typeface="Arial" panose="020B0604020202020204"/>
              </a:defRPr>
            </a:pPr>
            <a:r>
              <a:t>最短角度差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11680" y="46634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C8CFF"/>
                </a:solidFill>
                <a:latin typeface="Consolas" panose="020B0609020204030204"/>
              </a:defRPr>
            </a:pPr>
            <a:r>
              <a:t>(-180°, +180°]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926080" y="4663440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8B949E"/>
                </a:solidFill>
                <a:latin typeface="Arial" panose="020B0604020202020204"/>
              </a:defRPr>
            </a:pPr>
            <a:r>
              <a:t>防止跨零跳变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0" y="3886200"/>
            <a:ext cx="4206240" cy="105156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572000" y="3886200"/>
            <a:ext cx="25400" cy="1051560"/>
          </a:xfrm>
          <a:prstGeom prst="rect">
            <a:avLst/>
          </a:prstGeom>
          <a:solidFill>
            <a:srgbClr val="FF9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754880" y="39319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9E3D"/>
                </a:solidFill>
                <a:latin typeface="Arial" panose="020B0604020202020204"/>
              </a:defRPr>
            </a:pPr>
            <a:r>
              <a:t>输出与限幅宏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54880" y="4206240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E6EDF3"/>
                </a:solidFill>
                <a:latin typeface="Consolas" panose="020B0609020204030204"/>
              </a:defRPr>
            </a:pPr>
            <a:r>
              <a:t>PID_POS_SCALE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92240" y="42062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9E3D"/>
                </a:solidFill>
                <a:latin typeface="Consolas" panose="020B0609020204030204"/>
              </a:defRPr>
            </a:pPr>
            <a:r>
              <a:t>1024/300 步/度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589520" y="42062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8B949E"/>
                </a:solidFill>
                <a:latin typeface="Arial" panose="020B0604020202020204"/>
              </a:defRPr>
            </a:pPr>
            <a:r>
              <a:t>度→舵机步数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754880" y="4434840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E6EDF3"/>
                </a:solidFill>
                <a:latin typeface="Consolas" panose="020B0609020204030204"/>
              </a:defRPr>
            </a:pPr>
            <a:r>
              <a:t>PID_OUT_DELTA_MAX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92240" y="4434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9E3D"/>
                </a:solidFill>
                <a:latin typeface="Consolas" panose="020B0609020204030204"/>
              </a:defRPr>
            </a:pPr>
            <a:r>
              <a:t>±15 步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589520" y="4434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8B949E"/>
                </a:solidFill>
                <a:latin typeface="Arial" panose="020B0604020202020204"/>
              </a:defRPr>
            </a:pPr>
            <a:r>
              <a:t>单次增量限幅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754880" y="4663440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E6EDF3"/>
                </a:solidFill>
                <a:latin typeface="Consolas" panose="020B0609020204030204"/>
              </a:defRPr>
            </a:pPr>
            <a:r>
              <a:t>PID_TS / OUTER_DT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92240" y="46634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9E3D"/>
                </a:solidFill>
                <a:latin typeface="Consolas" panose="020B0609020204030204"/>
              </a:defRPr>
            </a:pPr>
            <a:r>
              <a:t>0.01s / 0.05s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589520" y="46634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8B949E"/>
                </a:solidFill>
                <a:latin typeface="Arial" panose="020B0604020202020204"/>
              </a:defRPr>
            </a:pPr>
            <a:r>
              <a:t>内环/外环周期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12480" y="48463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484F58"/>
                </a:solidFill>
                <a:latin typeface="Arial" panose="020B0604020202020204"/>
              </a:defRPr>
            </a:pPr>
            <a:r>
              <a:t>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6EDF3"/>
                </a:solidFill>
                <a:latin typeface="Arial" panose="020B0604020202020204"/>
              </a:defRPr>
            </a:pPr>
            <a:r>
              <a:t>OV7725 摄像头模块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  <a:latin typeface="Arial" panose="020B0604020202020204"/>
              </a:defRPr>
            </a:pPr>
            <a:r>
              <a:t>ATK-MC7725F — 图像采集与 FIFO 缓冲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9144000" cy="25400"/>
          </a:xfrm>
          <a:prstGeom prst="rect">
            <a:avLst/>
          </a:prstGeom>
          <a:solidFill>
            <a:srgbClr val="00D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051560"/>
            <a:ext cx="3931920" cy="201168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51560"/>
            <a:ext cx="3931920" cy="254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1430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8A6FF"/>
                </a:solidFill>
                <a:latin typeface="Arial" panose="020B0604020202020204"/>
              </a:defRPr>
            </a:pPr>
            <a:r>
              <a:t>模块概述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508760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58A6FF"/>
                </a:solidFill>
                <a:latin typeface="Arial" panose="020B0604020202020204"/>
              </a:defRPr>
            </a:pPr>
            <a:r>
              <a:t>图像传感器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1508760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6EDF3"/>
                </a:solidFill>
                <a:latin typeface="Arial" panose="020B0604020202020204"/>
              </a:defRPr>
            </a:pPr>
            <a:r>
              <a:t>OV7725 (VGA/QVGA)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46504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58A6FF"/>
                </a:solidFill>
                <a:latin typeface="Arial" panose="020B0604020202020204"/>
              </a:defRPr>
            </a:pPr>
            <a:r>
              <a:t>FIFO 芯片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746504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6EDF3"/>
                </a:solidFill>
                <a:latin typeface="Arial" panose="020B0604020202020204"/>
              </a:defRPr>
            </a:pPr>
            <a:r>
              <a:t>AL422B (384KB 帧缓冲)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984248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58A6FF"/>
                </a:solidFill>
                <a:latin typeface="Arial" panose="020B0604020202020204"/>
              </a:defRPr>
            </a:pPr>
            <a:r>
              <a:t>通信协议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1984248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6EDF3"/>
                </a:solidFill>
                <a:latin typeface="Arial" panose="020B0604020202020204"/>
              </a:defRPr>
            </a:pPr>
            <a:r>
              <a:t>SCCB (类 I2C) 配置寄存器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221991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58A6FF"/>
                </a:solidFill>
                <a:latin typeface="Arial" panose="020B0604020202020204"/>
              </a:defRPr>
            </a:pPr>
            <a:r>
              <a:t>数据接口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2221991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6EDF3"/>
                </a:solidFill>
                <a:latin typeface="Arial" panose="020B0604020202020204"/>
              </a:defRPr>
            </a:pPr>
            <a:r>
              <a:t>8-bit 并行 (GPIOC[7:0])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2459736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58A6FF"/>
                </a:solidFill>
                <a:latin typeface="Arial" panose="020B0604020202020204"/>
              </a:defRPr>
            </a:pPr>
            <a:r>
              <a:t>帧同步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2459736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6EDF3"/>
                </a:solidFill>
                <a:latin typeface="Arial" panose="020B0604020202020204"/>
              </a:defRPr>
            </a:pPr>
            <a:r>
              <a:t>VSYNC 上升沿中断 (PA8)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2697480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58A6FF"/>
                </a:solidFill>
                <a:latin typeface="Arial" panose="020B0604020202020204"/>
              </a:defRPr>
            </a:pPr>
            <a:r>
              <a:t>输出格式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2697480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6EDF3"/>
                </a:solidFill>
                <a:latin typeface="Arial" panose="020B0604020202020204"/>
              </a:defRPr>
            </a:pPr>
            <a:r>
              <a:t>RGB565 (16-bit/pixel)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0" y="1051560"/>
            <a:ext cx="4297680" cy="201168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0" y="1051560"/>
            <a:ext cx="4297680" cy="25400"/>
          </a:xfrm>
          <a:prstGeom prst="rect">
            <a:avLst/>
          </a:prstGeom>
          <a:solidFill>
            <a:srgbClr val="FF9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00600" y="11430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9E3D"/>
                </a:solidFill>
                <a:latin typeface="Arial" panose="020B0604020202020204"/>
              </a:defRPr>
            </a:pPr>
            <a:r>
              <a:t>控制信号引脚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00600" y="1508760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9E3D"/>
                </a:solidFill>
                <a:latin typeface="Consolas" panose="020B0609020204030204"/>
              </a:defRPr>
            </a:pPr>
            <a:r>
              <a:t>WRST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720" y="1508760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E6EDF3"/>
                </a:solidFill>
                <a:latin typeface="Consolas" panose="020B0609020204030204"/>
              </a:defRPr>
            </a:pPr>
            <a:r>
              <a:t>GPIOD 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1508760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49E"/>
                </a:solidFill>
                <a:latin typeface="Arial" panose="020B0604020202020204"/>
              </a:defRPr>
            </a:pPr>
            <a:r>
              <a:t>写指针复位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00600" y="1709928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9E3D"/>
                </a:solidFill>
                <a:latin typeface="Consolas" panose="020B0609020204030204"/>
              </a:defRPr>
            </a:pPr>
            <a:r>
              <a:t>RRST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60720" y="1709928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E6EDF3"/>
                </a:solidFill>
                <a:latin typeface="Consolas" panose="020B0609020204030204"/>
              </a:defRPr>
            </a:pPr>
            <a:r>
              <a:t>GPIOG 14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0" y="1709928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49E"/>
                </a:solidFill>
                <a:latin typeface="Arial" panose="020B0604020202020204"/>
              </a:defRPr>
            </a:pPr>
            <a:r>
              <a:t>读指针复位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00600" y="1911095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9E3D"/>
                </a:solidFill>
                <a:latin typeface="Consolas" panose="020B0609020204030204"/>
              </a:defRPr>
            </a:pPr>
            <a:r>
              <a:t>OE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60720" y="1911095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E6EDF3"/>
                </a:solidFill>
                <a:latin typeface="Consolas" panose="020B0609020204030204"/>
              </a:defRPr>
            </a:pPr>
            <a:r>
              <a:t>GPIOG 15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0880" y="1911095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49E"/>
                </a:solidFill>
                <a:latin typeface="Arial" panose="020B0604020202020204"/>
              </a:defRPr>
            </a:pPr>
            <a:r>
              <a:t>输出使能(低有效)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00600" y="2112264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9E3D"/>
                </a:solidFill>
                <a:latin typeface="Consolas" panose="020B0609020204030204"/>
              </a:defRPr>
            </a:pPr>
            <a:r>
              <a:t>RCLK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60720" y="2112264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E6EDF3"/>
                </a:solidFill>
                <a:latin typeface="Consolas" panose="020B0609020204030204"/>
              </a:defRPr>
            </a:pPr>
            <a:r>
              <a:t>GPIOB 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40880" y="2112264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49E"/>
                </a:solidFill>
                <a:latin typeface="Arial" panose="020B0604020202020204"/>
              </a:defRPr>
            </a:pPr>
            <a:r>
              <a:t>读时钟(上升沿)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00600" y="231343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9E3D"/>
                </a:solidFill>
                <a:latin typeface="Consolas" panose="020B0609020204030204"/>
              </a:defRPr>
            </a:pPr>
            <a:r>
              <a:t>WEN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60720" y="2313432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E6EDF3"/>
                </a:solidFill>
                <a:latin typeface="Consolas" panose="020B0609020204030204"/>
              </a:defRPr>
            </a:pPr>
            <a:r>
              <a:t>GPIOB 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40880" y="2313432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49E"/>
                </a:solidFill>
                <a:latin typeface="Arial" panose="020B0604020202020204"/>
              </a:defRPr>
            </a:pPr>
            <a:r>
              <a:t>写使能(高有效)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00600" y="2514600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9E3D"/>
                </a:solidFill>
                <a:latin typeface="Consolas" panose="020B0609020204030204"/>
              </a:defRPr>
            </a:pPr>
            <a:r>
              <a:t>SCCB SCL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760720" y="2514600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E6EDF3"/>
                </a:solidFill>
                <a:latin typeface="Consolas" panose="020B0609020204030204"/>
              </a:defRPr>
            </a:pPr>
            <a:r>
              <a:t>GPIOD 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40880" y="2514600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49E"/>
                </a:solidFill>
                <a:latin typeface="Arial" panose="020B0604020202020204"/>
              </a:defRPr>
            </a:pPr>
            <a:r>
              <a:t>时钟线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00600" y="2715768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9E3D"/>
                </a:solidFill>
                <a:latin typeface="Consolas" panose="020B0609020204030204"/>
              </a:defRPr>
            </a:pPr>
            <a:r>
              <a:t>SCCB SDA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760720" y="2715768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E6EDF3"/>
                </a:solidFill>
                <a:latin typeface="Consolas" panose="020B0609020204030204"/>
              </a:defRPr>
            </a:pPr>
            <a:r>
              <a:t>GPIOG 13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40880" y="2715768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49E"/>
                </a:solidFill>
                <a:latin typeface="Arial" panose="020B0604020202020204"/>
              </a:defRPr>
            </a:pPr>
            <a:r>
              <a:t>数据线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3246120"/>
            <a:ext cx="8229600" cy="160020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5800" y="3291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58A6FF"/>
                </a:solidFill>
                <a:latin typeface="Arial" panose="020B0604020202020204"/>
              </a:defRPr>
            </a:pPr>
            <a:r>
              <a:t>图像数据流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48640" y="3611880"/>
            <a:ext cx="1280160" cy="777240"/>
          </a:xfrm>
          <a:prstGeom prst="roundRect">
            <a:avLst/>
          </a:prstGeom>
          <a:solidFill>
            <a:srgbClr val="0A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48640" y="3611880"/>
            <a:ext cx="1280160" cy="254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94360" y="365760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58A6FF"/>
                </a:solidFill>
                <a:latin typeface="Arial" panose="020B0604020202020204"/>
              </a:defRPr>
            </a:pPr>
            <a:r>
              <a:t>OV7725</a:t>
            </a:r>
            <a:br/>
            <a:r>
              <a:t>传感器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94360" y="406908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8B949E"/>
                </a:solidFill>
                <a:latin typeface="Arial" panose="020B0604020202020204"/>
              </a:defRPr>
            </a:pPr>
            <a:r>
              <a:t>原始像素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47088" y="3794760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8A6FF"/>
                </a:solidFill>
                <a:latin typeface="Arial" panose="020B0604020202020204"/>
              </a:defRPr>
            </a:pPr>
            <a:r>
              <a:t>→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194560" y="3611880"/>
            <a:ext cx="1280160" cy="777240"/>
          </a:xfrm>
          <a:prstGeom prst="roundRect">
            <a:avLst/>
          </a:prstGeom>
          <a:solidFill>
            <a:srgbClr val="0A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2194560" y="3611880"/>
            <a:ext cx="1280160" cy="254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240280" y="365760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58A6FF"/>
                </a:solidFill>
                <a:latin typeface="Arial" panose="020B0604020202020204"/>
              </a:defRPr>
            </a:pPr>
            <a:r>
              <a:t>AL422B</a:t>
            </a:r>
            <a:br/>
            <a:r>
              <a:t>FIFO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240280" y="406908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8B949E"/>
                </a:solidFill>
                <a:latin typeface="Arial" panose="020B0604020202020204"/>
              </a:defRPr>
            </a:pPr>
            <a:r>
              <a:t>384KB 缓冲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493008" y="3794760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8A6FF"/>
                </a:solidFill>
                <a:latin typeface="Arial" panose="020B0604020202020204"/>
              </a:defRPr>
            </a:pPr>
            <a:r>
              <a:t>→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840480" y="3611880"/>
            <a:ext cx="1280160" cy="777240"/>
          </a:xfrm>
          <a:prstGeom prst="roundRect">
            <a:avLst/>
          </a:prstGeom>
          <a:solidFill>
            <a:srgbClr val="0A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3840480" y="3611880"/>
            <a:ext cx="1280160" cy="254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886200" y="365760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58A6FF"/>
                </a:solidFill>
                <a:latin typeface="Arial" panose="020B0604020202020204"/>
              </a:defRPr>
            </a:pPr>
            <a:r>
              <a:t>GPIOC</a:t>
            </a:r>
            <a:br/>
            <a:r>
              <a:t>[7:0]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886200" y="406908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8B949E"/>
                </a:solidFill>
                <a:latin typeface="Arial" panose="020B0604020202020204"/>
              </a:defRPr>
            </a:pPr>
            <a:r>
              <a:t>8-bit 并行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138928" y="3794760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8A6FF"/>
                </a:solidFill>
                <a:latin typeface="Arial" panose="020B0604020202020204"/>
              </a:defRPr>
            </a:pPr>
            <a:r>
              <a:t>→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5486400" y="3611880"/>
            <a:ext cx="1280160" cy="777240"/>
          </a:xfrm>
          <a:prstGeom prst="roundRect">
            <a:avLst/>
          </a:prstGeom>
          <a:solidFill>
            <a:srgbClr val="0A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486400" y="3611880"/>
            <a:ext cx="1280160" cy="254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532120" y="365760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58A6FF"/>
                </a:solidFill>
                <a:latin typeface="Arial" panose="020B0604020202020204"/>
              </a:defRPr>
            </a:pPr>
            <a:r>
              <a:t>get_frame()</a:t>
            </a:r>
            <a:br/>
            <a:r>
              <a:t>函数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532120" y="406908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8B949E"/>
                </a:solidFill>
                <a:latin typeface="Arial" panose="020B0604020202020204"/>
              </a:defRPr>
            </a:pPr>
            <a:r>
              <a:t>RGB565 组装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784848" y="3794760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8A6FF"/>
                </a:solidFill>
                <a:latin typeface="Arial" panose="020B0604020202020204"/>
              </a:defRPr>
            </a:pPr>
            <a:r>
              <a:t>→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7132320" y="3611880"/>
            <a:ext cx="1280160" cy="777240"/>
          </a:xfrm>
          <a:prstGeom prst="roundRect">
            <a:avLst/>
          </a:prstGeom>
          <a:solidFill>
            <a:srgbClr val="0A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7132320" y="3611880"/>
            <a:ext cx="1280160" cy="254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178040" y="365760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58A6FF"/>
                </a:solidFill>
                <a:latin typeface="Arial" panose="020B0604020202020204"/>
              </a:defRPr>
            </a:pPr>
            <a:r>
              <a:t>LCD GRAM</a:t>
            </a:r>
            <a:br/>
            <a:r>
              <a:t>FSMC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178040" y="406908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8B949E"/>
                </a:solidFill>
                <a:latin typeface="Arial" panose="020B0604020202020204"/>
              </a:defRPr>
            </a:pPr>
            <a:r>
              <a:t>实时显示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412480" y="48463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484F58"/>
                </a:solidFill>
                <a:latin typeface="Arial" panose="020B0604020202020204"/>
              </a:defRPr>
            </a:pPr>
            <a: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6EDF3"/>
                </a:solidFill>
                <a:latin typeface="Arial" panose="020B0604020202020204"/>
              </a:defRPr>
            </a:pPr>
            <a:r>
              <a:t>FIFO 帧缓冲机制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  <a:latin typeface="Arial" panose="020B0604020202020204"/>
              </a:defRPr>
            </a:pPr>
            <a:r>
              <a:t>AL422B Frame Buffer — 写入/读取/状态管理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9144000" cy="25400"/>
          </a:xfrm>
          <a:prstGeom prst="rect">
            <a:avLst/>
          </a:prstGeom>
          <a:solidFill>
            <a:srgbClr val="00D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051560"/>
            <a:ext cx="3931920" cy="192024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51560"/>
            <a:ext cx="3931920" cy="254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1430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58A6FF"/>
                </a:solidFill>
                <a:latin typeface="Arial" panose="020B0604020202020204"/>
              </a:defRPr>
            </a:pPr>
            <a:r>
              <a:t>写入流程 (VSYNC 中断触发)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554480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58A6FF"/>
                </a:solidFill>
                <a:latin typeface="Arial" panose="020B0604020202020204"/>
              </a:defRPr>
            </a:pPr>
            <a:r>
              <a:t>▸ VSYNC 上升沿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1554480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949E"/>
                </a:solidFill>
                <a:latin typeface="Arial" panose="020B0604020202020204"/>
              </a:defRPr>
            </a:pPr>
            <a:r>
              <a:t>一帧开始信号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810512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58A6FF"/>
                </a:solidFill>
                <a:latin typeface="Arial" panose="020B0604020202020204"/>
              </a:defRPr>
            </a:pPr>
            <a:r>
              <a:t>▸ 上一帧已处理?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1810512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949E"/>
                </a:solidFill>
                <a:latin typeface="Arial" panose="020B0604020202020204"/>
              </a:defRPr>
            </a:pPr>
            <a:r>
              <a:t>检查 handle_flag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066543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58A6FF"/>
                </a:solidFill>
                <a:latin typeface="Arial" panose="020B0604020202020204"/>
              </a:defRPr>
            </a:pPr>
            <a:r>
              <a:t>▸ 是 → 复位写指针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2066543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949E"/>
                </a:solidFill>
                <a:latin typeface="Arial" panose="020B0604020202020204"/>
              </a:defRPr>
            </a:pPr>
            <a:r>
              <a:t>WRST↓↑ + WEN↑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322576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58A6FF"/>
                </a:solidFill>
                <a:latin typeface="Arial" panose="020B0604020202020204"/>
              </a:defRPr>
            </a:pPr>
            <a:r>
              <a:t>▸ 否 → 丢弃本帧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2322576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949E"/>
                </a:solidFill>
                <a:latin typeface="Arial" panose="020B0604020202020204"/>
              </a:defRPr>
            </a:pPr>
            <a:r>
              <a:t>WEN↓ (防覆盖)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2578608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58A6FF"/>
                </a:solidFill>
                <a:latin typeface="Arial" panose="020B0604020202020204"/>
              </a:defRPr>
            </a:pPr>
            <a:r>
              <a:t>▸ OV7725 自动写入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2578608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949E"/>
                </a:solidFill>
                <a:latin typeface="Arial" panose="020B0604020202020204"/>
              </a:defRPr>
            </a:pPr>
            <a:r>
              <a:t>像素数据→FIFO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0" y="1051560"/>
            <a:ext cx="4297680" cy="192024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0" y="1051560"/>
            <a:ext cx="4297680" cy="25400"/>
          </a:xfrm>
          <a:prstGeom prst="rect">
            <a:avLst/>
          </a:prstGeom>
          <a:solidFill>
            <a:srgbClr val="00D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00600" y="11430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9A6"/>
                </a:solidFill>
                <a:latin typeface="Arial" panose="020B0604020202020204"/>
              </a:defRPr>
            </a:pPr>
            <a:r>
              <a:t>读取流程 (主循环轮询)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00600" y="1554480"/>
            <a:ext cx="2011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D9A6"/>
                </a:solidFill>
                <a:latin typeface="Arial" panose="020B0604020202020204"/>
              </a:defRPr>
            </a:pPr>
            <a:r>
              <a:t>▸ 检查 handle_flag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1554480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949E"/>
                </a:solidFill>
                <a:latin typeface="Arial" panose="020B0604020202020204"/>
              </a:defRPr>
            </a:pPr>
            <a:r>
              <a:t>== DONE → 无新帧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00600" y="1810512"/>
            <a:ext cx="2011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D9A6"/>
                </a:solidFill>
                <a:latin typeface="Arial" panose="020B0604020202020204"/>
              </a:defRPr>
            </a:pPr>
            <a:r>
              <a:t>▸ 关中断, 清标志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1810512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949E"/>
                </a:solidFill>
                <a:latin typeface="Arial" panose="020B0604020202020204"/>
              </a:defRPr>
            </a:pPr>
            <a:r>
              <a:t>__disable_irq 保护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00600" y="2066543"/>
            <a:ext cx="2011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D9A6"/>
                </a:solidFill>
                <a:latin typeface="Arial" panose="020B0604020202020204"/>
              </a:defRPr>
            </a:pPr>
            <a:r>
              <a:t>▸ 复位读指针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2066543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949E"/>
                </a:solidFill>
                <a:latin typeface="Arial" panose="020B0604020202020204"/>
              </a:defRPr>
            </a:pPr>
            <a:r>
              <a:t>RRST↓RCLK↑↓RRST↑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00600" y="2322576"/>
            <a:ext cx="2011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D9A6"/>
                </a:solidFill>
                <a:latin typeface="Arial" panose="020B0604020202020204"/>
              </a:defRPr>
            </a:pPr>
            <a:r>
              <a:t>▸ 双字节读取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2322576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949E"/>
                </a:solidFill>
                <a:latin typeface="Arial" panose="020B0604020202020204"/>
              </a:defRPr>
            </a:pPr>
            <a:r>
              <a:t>高8位 + 低8位 → RGB565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00600" y="2578608"/>
            <a:ext cx="2011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D9A6"/>
                </a:solidFill>
                <a:latin typeface="Arial" panose="020B0604020202020204"/>
              </a:defRPr>
            </a:pPr>
            <a:r>
              <a:t>▸ 写入 LCD GRAM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2578608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949E"/>
                </a:solidFill>
                <a:latin typeface="Arial" panose="020B0604020202020204"/>
              </a:defRPr>
            </a:pPr>
            <a:r>
              <a:t>FSMC 地址映射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3200400"/>
            <a:ext cx="8229600" cy="164592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32461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9E3D"/>
                </a:solidFill>
                <a:latin typeface="Arial" panose="020B0604020202020204"/>
              </a:defRPr>
            </a:pPr>
            <a:r>
              <a:t>状态管理与 IO 优化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85800" y="3566160"/>
            <a:ext cx="3657600" cy="1097280"/>
          </a:xfrm>
          <a:prstGeom prst="roundRect">
            <a:avLst/>
          </a:prstGeom>
          <a:solidFill>
            <a:srgbClr val="0F17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" y="3639312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49E"/>
                </a:solidFill>
                <a:latin typeface="Consolas" panose="020B0609020204030204"/>
              </a:defRPr>
            </a:pPr>
            <a:r>
              <a:t>volatile struct {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3840480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D9A6"/>
                </a:solidFill>
                <a:latin typeface="Consolas" panose="020B0609020204030204"/>
              </a:defRPr>
            </a:pPr>
            <a:r>
              <a:t>  output.width/height  // 当前分辨率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4041648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8A6FF"/>
                </a:solidFill>
                <a:latin typeface="Consolas" panose="020B0609020204030204"/>
              </a:defRPr>
            </a:pPr>
            <a:r>
              <a:t>  frame.handle_flag    // DONE / PEND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" y="4242816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9E3D"/>
                </a:solidFill>
                <a:latin typeface="Consolas" panose="020B0609020204030204"/>
              </a:defRPr>
            </a:pPr>
            <a:r>
              <a:t>  frame.count          // 已读帧计数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" y="4443984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49E"/>
                </a:solidFill>
                <a:latin typeface="Consolas" panose="020B0609020204030204"/>
              </a:defRPr>
            </a:pPr>
            <a:r>
              <a:t>} g_atk_mc7725f_sta;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00600" y="35661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9E3D"/>
                </a:solidFill>
                <a:latin typeface="Arial" panose="020B0604020202020204"/>
              </a:defRPr>
            </a:pPr>
            <a:r>
              <a:t>性能优化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00600" y="3840480"/>
            <a:ext cx="3840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6EDF3"/>
                </a:solidFill>
                <a:latin typeface="Arial" panose="020B0604020202020204"/>
              </a:defRPr>
            </a:pPr>
            <a:r>
              <a:t>▸ 8-bit 端口一次读取 (IDR &amp; 0x00FF)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00600" y="4078224"/>
            <a:ext cx="3840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6EDF3"/>
                </a:solidFill>
                <a:latin typeface="Arial" panose="020B0604020202020204"/>
              </a:defRPr>
            </a:pPr>
            <a:r>
              <a:t>▸ BSRR/BRR 寄存器替代 HAL 函数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00600" y="4315968"/>
            <a:ext cx="3840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6EDF3"/>
                </a:solidFill>
                <a:latin typeface="Arial" panose="020B0604020202020204"/>
              </a:defRPr>
            </a:pPr>
            <a:r>
              <a:t>▸ volatile 变量缓存到局部变量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00600" y="4553712"/>
            <a:ext cx="3840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6EDF3"/>
                </a:solidFill>
                <a:latin typeface="Arial" panose="020B0604020202020204"/>
              </a:defRPr>
            </a:pPr>
            <a:r>
              <a:t>▸ 临界区保护 (__disable_irq)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12480" y="48463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484F58"/>
                </a:solidFill>
                <a:latin typeface="Arial" panose="020B0604020202020204"/>
              </a:defRPr>
            </a:pPr>
            <a: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6EDF3"/>
                </a:solidFill>
                <a:latin typeface="Arial" panose="020B0604020202020204"/>
              </a:defRPr>
            </a:pPr>
            <a:r>
              <a:t>系统中断与调度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  <a:latin typeface="Arial" panose="020B0604020202020204"/>
              </a:defRPr>
            </a:pPr>
            <a:r>
              <a:t>Interrupt System — 中断源、频率与处理职责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9144000" cy="25400"/>
          </a:xfrm>
          <a:prstGeom prst="rect">
            <a:avLst/>
          </a:prstGeom>
          <a:solidFill>
            <a:srgbClr val="00D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051560"/>
          <a:ext cx="8229600" cy="16459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371600"/>
                <a:gridCol w="2468880"/>
                <a:gridCol w="2743200"/>
              </a:tblGrid>
              <a:tr h="274319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D9A6"/>
                          </a:solidFill>
                          <a:latin typeface="Arial" panose="020B0604020202020204"/>
                        </a:defRPr>
                      </a:pPr>
                      <a:r>
                        <a:t>中断源</a:t>
                      </a:r>
                    </a:p>
                  </a:txBody>
                  <a:tcPr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D9A6"/>
                          </a:solidFill>
                          <a:latin typeface="Arial" panose="020B0604020202020204"/>
                        </a:defRPr>
                      </a:pPr>
                      <a:r>
                        <a:t>频率/触发</a:t>
                      </a:r>
                    </a:p>
                  </a:txBody>
                  <a:tcPr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D9A6"/>
                          </a:solidFill>
                          <a:latin typeface="Arial" panose="020B0604020202020204"/>
                        </a:defRPr>
                      </a:pPr>
                      <a:r>
                        <a:t>处理函数</a:t>
                      </a:r>
                    </a:p>
                  </a:txBody>
                  <a:tcPr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D9A6"/>
                          </a:solidFill>
                          <a:latin typeface="Arial" panose="020B0604020202020204"/>
                        </a:defRPr>
                      </a:pPr>
                      <a:r>
                        <a:t>职责</a:t>
                      </a:r>
                    </a:p>
                  </a:txBody>
                  <a:tcPr>
                    <a:solidFill>
                      <a:srgbClr val="0D2137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E6EDF3"/>
                          </a:solidFill>
                          <a:latin typeface="Arial" panose="020B0604020202020204"/>
                        </a:defRPr>
                      </a:pPr>
                      <a:r>
                        <a:t>TIM2_UP</a:t>
                      </a:r>
                    </a:p>
                  </a:txBody>
                  <a:tcPr>
                    <a:solidFill>
                      <a:srgbClr val="1017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E6EDF3"/>
                          </a:solidFill>
                          <a:latin typeface="Arial" panose="020B0604020202020204"/>
                        </a:defRPr>
                      </a:pPr>
                      <a:r>
                        <a:t>100Hz</a:t>
                      </a:r>
                    </a:p>
                  </a:txBody>
                  <a:tcPr>
                    <a:solidFill>
                      <a:srgbClr val="1017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E6EDF3"/>
                          </a:solidFill>
                          <a:latin typeface="Arial" panose="020B0604020202020204"/>
                        </a:defRPr>
                      </a:pPr>
                      <a:r>
                        <a:t>TIM2_IRQHandler</a:t>
                      </a:r>
                    </a:p>
                  </a:txBody>
                  <a:tcPr>
                    <a:solidFill>
                      <a:srgbClr val="1017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E6EDF3"/>
                          </a:solidFill>
                          <a:latin typeface="Arial" panose="020B0604020202020204"/>
                        </a:defRPr>
                      </a:pPr>
                      <a:r>
                        <a:t>g_pidFlag++ (仅置标志)</a:t>
                      </a:r>
                    </a:p>
                  </a:txBody>
                  <a:tcPr>
                    <a:solidFill>
                      <a:srgbClr val="10171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E6EDF3"/>
                          </a:solidFill>
                          <a:latin typeface="Arial" panose="020B0604020202020204"/>
                        </a:defRPr>
                      </a:pPr>
                      <a:r>
                        <a:t>USART2 IDLE</a:t>
                      </a:r>
                    </a:p>
                  </a:txBody>
                  <a:tcPr>
                    <a:solidFill>
                      <a:srgbClr val="151C2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E6EDF3"/>
                          </a:solidFill>
                          <a:latin typeface="Arial" panose="020B0604020202020204"/>
                        </a:defRPr>
                      </a:pPr>
                      <a:r>
                        <a:t>事件驱动</a:t>
                      </a:r>
                    </a:p>
                  </a:txBody>
                  <a:tcPr>
                    <a:solidFill>
                      <a:srgbClr val="151C2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E6EDF3"/>
                          </a:solidFill>
                          <a:latin typeface="Arial" panose="020B0604020202020204"/>
                        </a:defRPr>
                      </a:pPr>
                      <a:r>
                        <a:t>jy901sOnIdleIrq()</a:t>
                      </a:r>
                    </a:p>
                  </a:txBody>
                  <a:tcPr>
                    <a:solidFill>
                      <a:srgbClr val="151C2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E6EDF3"/>
                          </a:solidFill>
                          <a:latin typeface="Arial" panose="020B0604020202020204"/>
                        </a:defRPr>
                      </a:pPr>
                      <a:r>
                        <a:t>记录 DMA 写位置</a:t>
                      </a:r>
                    </a:p>
                  </a:txBody>
                  <a:tcPr>
                    <a:solidFill>
                      <a:srgbClr val="151C25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E6EDF3"/>
                          </a:solidFill>
                          <a:latin typeface="Arial" panose="020B0604020202020204"/>
                        </a:defRPr>
                      </a:pPr>
                      <a:r>
                        <a:t>DMA1_CH6</a:t>
                      </a:r>
                    </a:p>
                  </a:txBody>
                  <a:tcPr>
                    <a:solidFill>
                      <a:srgbClr val="1017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E6EDF3"/>
                          </a:solidFill>
                          <a:latin typeface="Arial" panose="020B0604020202020204"/>
                        </a:defRPr>
                      </a:pPr>
                      <a:r>
                        <a:t>持续</a:t>
                      </a:r>
                    </a:p>
                  </a:txBody>
                  <a:tcPr>
                    <a:solidFill>
                      <a:srgbClr val="1017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E6EDF3"/>
                          </a:solidFill>
                          <a:latin typeface="Arial" panose="020B0604020202020204"/>
                        </a:defRPr>
                      </a:pPr>
                      <a:r>
                        <a:t>HAL_DMA_IRQHandler</a:t>
                      </a:r>
                    </a:p>
                  </a:txBody>
                  <a:tcPr>
                    <a:solidFill>
                      <a:srgbClr val="1017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E6EDF3"/>
                          </a:solidFill>
                          <a:latin typeface="Arial" panose="020B0604020202020204"/>
                        </a:defRPr>
                      </a:pPr>
                      <a:r>
                        <a:t>USART2 RX DMA 管理</a:t>
                      </a:r>
                    </a:p>
                  </a:txBody>
                  <a:tcPr>
                    <a:solidFill>
                      <a:srgbClr val="10171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E6EDF3"/>
                          </a:solidFill>
                          <a:latin typeface="Arial" panose="020B0604020202020204"/>
                        </a:defRPr>
                      </a:pPr>
                      <a:r>
                        <a:t>SysTick</a:t>
                      </a:r>
                    </a:p>
                  </a:txBody>
                  <a:tcPr>
                    <a:solidFill>
                      <a:srgbClr val="151C2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E6EDF3"/>
                          </a:solidFill>
                          <a:latin typeface="Arial" panose="020B0604020202020204"/>
                        </a:defRPr>
                      </a:pPr>
                      <a:r>
                        <a:t>1kHz</a:t>
                      </a:r>
                    </a:p>
                  </a:txBody>
                  <a:tcPr>
                    <a:solidFill>
                      <a:srgbClr val="151C2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E6EDF3"/>
                          </a:solidFill>
                          <a:latin typeface="Arial" panose="020B0604020202020204"/>
                        </a:defRPr>
                      </a:pPr>
                      <a:r>
                        <a:t>SysTick_Handler</a:t>
                      </a:r>
                    </a:p>
                  </a:txBody>
                  <a:tcPr>
                    <a:solidFill>
                      <a:srgbClr val="151C2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E6EDF3"/>
                          </a:solidFill>
                          <a:latin typeface="Arial" panose="020B0604020202020204"/>
                        </a:defRPr>
                      </a:pPr>
                      <a:r>
                        <a:t>HAL_IncTick() 系统时钟</a:t>
                      </a:r>
                    </a:p>
                  </a:txBody>
                  <a:tcPr>
                    <a:solidFill>
                      <a:srgbClr val="151C25"/>
                    </a:solidFill>
                  </a:tcPr>
                </a:tc>
              </a:tr>
              <a:tr h="274324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E6EDF3"/>
                          </a:solidFill>
                          <a:latin typeface="Arial" panose="020B0604020202020204"/>
                        </a:defRPr>
                      </a:pPr>
                      <a:r>
                        <a:t>EXTI9_5</a:t>
                      </a:r>
                    </a:p>
                  </a:txBody>
                  <a:tcPr>
                    <a:solidFill>
                      <a:srgbClr val="1017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E6EDF3"/>
                          </a:solidFill>
                          <a:latin typeface="Arial" panose="020B0604020202020204"/>
                        </a:defRPr>
                      </a:pPr>
                      <a:r>
                        <a:t>VSYNC</a:t>
                      </a:r>
                    </a:p>
                  </a:txBody>
                  <a:tcPr>
                    <a:solidFill>
                      <a:srgbClr val="1017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E6EDF3"/>
                          </a:solidFill>
                          <a:latin typeface="Arial" panose="020B0604020202020204"/>
                        </a:defRPr>
                      </a:pPr>
                      <a:r>
                        <a:t>VSYNC_INT_IRQHandler</a:t>
                      </a:r>
                    </a:p>
                  </a:txBody>
                  <a:tcPr>
                    <a:solidFill>
                      <a:srgbClr val="1017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E6EDF3"/>
                          </a:solidFill>
                          <a:latin typeface="Arial" panose="020B0604020202020204"/>
                        </a:defRPr>
                      </a:pPr>
                      <a:r>
                        <a:t>摄像头帧同步</a:t>
                      </a:r>
                    </a:p>
                  </a:txBody>
                  <a:tcPr>
                    <a:solidFill>
                      <a:srgbClr val="10171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3063240"/>
            <a:ext cx="8229600" cy="182880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3108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9A6"/>
                </a:solidFill>
                <a:latin typeface="Arial" panose="020B0604020202020204"/>
              </a:defRPr>
            </a:pPr>
            <a:r>
              <a:t>主循环调度策略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474720"/>
            <a:ext cx="1188720" cy="256032"/>
          </a:xfrm>
          <a:prstGeom prst="roundRect">
            <a:avLst/>
          </a:prstGeom>
          <a:solidFill>
            <a:srgbClr val="00D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00" b="1">
                <a:solidFill>
                  <a:srgbClr val="0D1117"/>
                </a:solidFill>
                <a:latin typeface="Arial" panose="020B0604020202020204"/>
              </a:defRPr>
            </a:pPr>
            <a:r>
              <a:t>100Hz (每拍)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3474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6EDF3"/>
                </a:solidFill>
                <a:latin typeface="Arial" panose="020B0604020202020204"/>
              </a:defRPr>
            </a:pPr>
            <a:r>
              <a:t>PID 内环 + IMU 数据消费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794759"/>
            <a:ext cx="1188720" cy="256032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00" b="1">
                <a:solidFill>
                  <a:srgbClr val="0D1117"/>
                </a:solidFill>
                <a:latin typeface="Arial" panose="020B0604020202020204"/>
              </a:defRPr>
            </a:pPr>
            <a:r>
              <a:t>20Hz (每5拍)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3794759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6EDF3"/>
                </a:solidFill>
                <a:latin typeface="Arial" panose="020B0604020202020204"/>
              </a:defRPr>
            </a:pPr>
            <a:r>
              <a:t>PID 外环 (角度→角速度)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114800"/>
            <a:ext cx="1280160" cy="256032"/>
          </a:xfrm>
          <a:prstGeom prst="roundRect">
            <a:avLst/>
          </a:prstGeom>
          <a:solidFill>
            <a:srgbClr val="FF9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00" b="1">
                <a:solidFill>
                  <a:srgbClr val="0D1117"/>
                </a:solidFill>
                <a:latin typeface="Arial" panose="020B0604020202020204"/>
              </a:defRPr>
            </a:pPr>
            <a:r>
              <a:t>10Hz (每10拍)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41148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6EDF3"/>
                </a:solidFill>
                <a:latin typeface="Arial" panose="020B0604020202020204"/>
              </a:defRPr>
            </a:pPr>
            <a:r>
              <a:t>VOFA+ 调试输出 (printf)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434840"/>
            <a:ext cx="640080" cy="256032"/>
          </a:xfrm>
          <a:prstGeom prst="roundRect">
            <a:avLst/>
          </a:prstGeom>
          <a:solidFill>
            <a:srgbClr val="8B9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00" b="1">
                <a:solidFill>
                  <a:srgbClr val="0D1117"/>
                </a:solidFill>
                <a:latin typeface="Arial" panose="020B0604020202020204"/>
              </a:defRPr>
            </a:pPr>
            <a:r>
              <a:t>事件驱动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44348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6EDF3"/>
                </a:solidFill>
                <a:latin typeface="Arial" panose="020B0604020202020204"/>
              </a:defRPr>
            </a:pPr>
            <a:r>
              <a:t>IMU IDLE 中断 → 记录 DMA 位置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48463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484F58"/>
                </a:solidFill>
                <a:latin typeface="Arial" panose="020B0604020202020204"/>
              </a:defRPr>
            </a:pPr>
            <a: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0"/>
            <a:ext cx="9144000" cy="10972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0"/>
            <a:ext cx="50800" cy="1097280"/>
          </a:xfrm>
          <a:prstGeom prst="rect">
            <a:avLst/>
          </a:prstGeom>
          <a:solidFill>
            <a:srgbClr val="00D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8229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9A6"/>
                </a:solidFill>
                <a:latin typeface="Arial" panose="020B0604020202020204"/>
              </a:defRPr>
            </a:pPr>
            <a:r>
              <a:t>总结与展望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258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49E"/>
                </a:solidFill>
                <a:latin typeface="Arial" panose="020B0604020202020204"/>
              </a:defRPr>
            </a:pPr>
            <a:r>
              <a:t>Summary &amp; Future Work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011680"/>
            <a:ext cx="3931920" cy="283464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011680"/>
            <a:ext cx="3931920" cy="25400"/>
          </a:xfrm>
          <a:prstGeom prst="rect">
            <a:avLst/>
          </a:prstGeom>
          <a:solidFill>
            <a:srgbClr val="00D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1031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9A6"/>
                </a:solidFill>
                <a:latin typeface="Arial" panose="020B0604020202020204"/>
              </a:defRPr>
            </a:pPr>
            <a:r>
              <a:t>已实现功能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468880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6EDF3"/>
                </a:solidFill>
                <a:latin typeface="Arial" panose="020B0604020202020204"/>
              </a:defRPr>
            </a:pPr>
            <a:r>
              <a:t>✓ 三轴 (Pitch/Roll) PID 稳定控制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761488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6EDF3"/>
                </a:solidFill>
                <a:latin typeface="Arial" panose="020B0604020202020204"/>
              </a:defRPr>
            </a:pPr>
            <a:r>
              <a:t>✓ JY901S IMU DMA 高效数据接收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054096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6EDF3"/>
                </a:solidFill>
                <a:latin typeface="Arial" panose="020B0604020202020204"/>
              </a:defRPr>
            </a:pPr>
            <a:r>
              <a:t>✓ AX-12A RS485 半双工舵机通信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346704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6EDF3"/>
                </a:solidFill>
                <a:latin typeface="Arial" panose="020B0604020202020204"/>
              </a:defRPr>
            </a:pPr>
            <a:r>
              <a:t>✓ 串级 PID 控制架构 (外环+内环)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639312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6EDF3"/>
                </a:solidFill>
                <a:latin typeface="Arial" panose="020B0604020202020204"/>
              </a:defRPr>
            </a:pPr>
            <a:r>
              <a:t>✓ OV7725 图像采集与 LCD 实时显示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931920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6EDF3"/>
                </a:solidFill>
                <a:latin typeface="Arial" panose="020B0604020202020204"/>
              </a:defRPr>
            </a:pPr>
            <a:r>
              <a:t>✓ VOFA+ Firewater 协议调试输出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224528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6EDF3"/>
                </a:solidFill>
                <a:latin typeface="Arial" panose="020B0604020202020204"/>
              </a:defRPr>
            </a:pPr>
            <a:r>
              <a:t>✓ 模块化分层软件架构 (BSP/App)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0" y="2011680"/>
            <a:ext cx="4297680" cy="283464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0" y="2011680"/>
            <a:ext cx="4297680" cy="254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00600" y="21031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8A6FF"/>
                </a:solidFill>
                <a:latin typeface="Arial" panose="020B0604020202020204"/>
              </a:defRPr>
            </a:pPr>
            <a:r>
              <a:t>后续优化方向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0600" y="2468880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6EDF3"/>
                </a:solidFill>
                <a:latin typeface="Arial" panose="020B0604020202020204"/>
              </a:defRPr>
            </a:pPr>
            <a:r>
              <a:t>→ Yaw 轴 PID 启用与调参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0600" y="2761488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6EDF3"/>
                </a:solidFill>
                <a:latin typeface="Arial" panose="020B0604020202020204"/>
              </a:defRPr>
            </a:pPr>
            <a:r>
              <a:t>→ 摄像头集成: 视觉跟踪/目标识别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00600" y="3054096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6EDF3"/>
                </a:solidFill>
                <a:latin typeface="Arial" panose="020B0604020202020204"/>
              </a:defRPr>
            </a:pPr>
            <a:r>
              <a:t>→ IMU 数据融合算法优化 (互补/卡尔曼)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00600" y="3346704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6EDF3"/>
                </a:solidFill>
                <a:latin typeface="Arial" panose="020B0604020202020204"/>
              </a:defRPr>
            </a:pPr>
            <a:r>
              <a:t>→ 舵机同步写入 (SYNC_WRITE 指令)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00600" y="3639312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6EDF3"/>
                </a:solidFill>
                <a:latin typeface="Arial" panose="020B0604020202020204"/>
              </a:defRPr>
            </a:pPr>
            <a:r>
              <a:t>→ 蓝牙/WiFi 远程控制接口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00600" y="3931920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6EDF3"/>
                </a:solidFill>
                <a:latin typeface="Arial" panose="020B0604020202020204"/>
              </a:defRPr>
            </a:pPr>
            <a:r>
              <a:t>→ 遥控器输入集成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00600" y="4224528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6EDF3"/>
                </a:solidFill>
                <a:latin typeface="Arial" panose="020B0604020202020204"/>
              </a:defRPr>
            </a:pPr>
            <a:r>
              <a:t>→ PCB 集成设计 (减小体积)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48463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484F58"/>
                </a:solidFill>
                <a:latin typeface="Arial" panose="020B0604020202020204"/>
              </a:defRPr>
            </a:pPr>
            <a:r>
              <a:t>13 /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5763</Words>
  <Application>WPS 演示</Application>
  <PresentationFormat>On-screen Show (4:3)</PresentationFormat>
  <Paragraphs>984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3" baseType="lpstr">
      <vt:lpstr>Arial</vt:lpstr>
      <vt:lpstr>宋体</vt:lpstr>
      <vt:lpstr>Wingdings</vt:lpstr>
      <vt:lpstr>Arial</vt:lpstr>
      <vt:lpstr>Arial Black</vt:lpstr>
      <vt:lpstr>Consolas</vt:lpstr>
      <vt:lpstr>Calibri</vt:lpstr>
      <vt:lpstr>微软雅黑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安启超</cp:lastModifiedBy>
  <cp:revision>3</cp:revision>
  <dcterms:created xsi:type="dcterms:W3CDTF">2013-01-27T09:14:00Z</dcterms:created>
  <dcterms:modified xsi:type="dcterms:W3CDTF">2026-06-06T12:56:07Z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2052-12.1.0.25860</vt:lpwstr>
  </property>
  <property fmtid="{D5CDD505-2E9C-101B-9397-08002B2CF9AE}" pid="3" name="ICV">
    <vt:lpwstr>805340D313E5413F86A63C1D1A73906A_12</vt:lpwstr>
  </property>
</Properties>
</file>