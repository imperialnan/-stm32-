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2743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50800" cy="27432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4000" b="1">
                <a:solidFill>
                  <a:srgbClr val="00D9A6"/>
                </a:solidFill>
                <a:latin typeface="Arial Black"/>
              </a:defRPr>
            </a:pPr>
            <a:r>
              <a:t>StableGimbalV2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三轴稳定云台 项目讲解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Arial"/>
              </a:defRPr>
            </a:pPr>
            <a:r>
              <a:t>STM32F103C8T6  |  JY901S IMU  |  AX-12A 舵机  |  OV7725 摄像头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64008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100" b="1">
                <a:solidFill>
                  <a:srgbClr val="0D1117"/>
                </a:solidFill>
                <a:latin typeface="Arial"/>
              </a:defRPr>
            </a:pPr>
            <a:r>
              <a:t>v2.1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474720"/>
            <a:ext cx="182880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100" b="1">
                <a:solidFill>
                  <a:srgbClr val="0D1117"/>
                </a:solidFill>
                <a:latin typeface="Arial"/>
              </a:defRPr>
            </a:pPr>
            <a:r>
              <a:t>Cortex-M3 @ 72MHz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项目总览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Project Overview — 功能、目标与平台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16128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000" b="1">
                <a:solidFill>
                  <a:srgbClr val="0D1117"/>
                </a:solidFill>
                <a:latin typeface="Arial"/>
              </a:defRPr>
            </a:pPr>
            <a:r>
              <a:t>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09728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/>
              </a:defRPr>
            </a:pPr>
            <a:r>
              <a:t>STM32F103C8T6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399032"/>
            <a:ext cx="256032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ARM Cortex-M3 内核</a:t>
            </a:r>
            <a:br/>
            <a:r>
              <a:t>72MHz 主频 / 64KB Flash / 20KB SRAM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2140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000" b="1">
                <a:solidFill>
                  <a:srgbClr val="0D1117"/>
                </a:solidFill>
                <a:latin typeface="Arial"/>
              </a:defRPr>
            </a:pPr>
            <a:r>
              <a:t>IMU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05740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/>
              </a:defRPr>
            </a:pPr>
            <a:r>
              <a:t>JY901S 九轴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359152"/>
            <a:ext cx="256032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加速度计 + 陀螺仪 + 磁力计</a:t>
            </a:r>
            <a:br/>
            <a:r>
              <a:t>实时输出姿态角和角速度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81528"/>
            <a:ext cx="45720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000" b="1">
                <a:solidFill>
                  <a:srgbClr val="0D1117"/>
                </a:solidFill>
                <a:latin typeface="Arial"/>
              </a:defRPr>
            </a:pPr>
            <a:r>
              <a:t>舵机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01752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/>
              </a:defRPr>
            </a:pPr>
            <a:r>
              <a:t>AX-12A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319272"/>
            <a:ext cx="256032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Dynamixel 总线舵机</a:t>
            </a:r>
            <a:br/>
            <a:r>
              <a:t>Pitch / Roll / Yaw 三轴驱动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931920" cy="82296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41648"/>
            <a:ext cx="54864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1000" b="1">
                <a:solidFill>
                  <a:srgbClr val="0D1117"/>
                </a:solidFill>
                <a:latin typeface="Arial"/>
              </a:defRPr>
            </a:pPr>
            <a:r>
              <a:t>摄像头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97764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Arial"/>
              </a:defRPr>
            </a:pPr>
            <a:r>
              <a:t>OV7725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279392"/>
            <a:ext cx="256032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VGA/QVGA 图像传感器</a:t>
            </a:r>
            <a:br/>
            <a:r>
              <a:t>AL422B FIFO 缓冲 + LCD 显示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051560"/>
            <a:ext cx="4114800" cy="38404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600" b="1">
                <a:solidFill>
                  <a:srgbClr val="00D9A6"/>
                </a:solidFill>
                <a:latin typeface="Arial"/>
              </a:defRPr>
            </a:pPr>
            <a:r>
              <a:t>功能概述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1554480"/>
            <a:ext cx="1371600" cy="381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三轴 (Pitch / Roll / Yaw) 姿态稳定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67128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JY901S 实时测量姿态角与角速度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551176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串级 PID 控制器 (外环20Hz + 内环100Hz)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935224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三个 AX-12A 舵机保持目标角度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319272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OV7725 摄像头实时图像采集与显示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703320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DMA + IDLE 中断高效数据接收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87368"/>
            <a:ext cx="36576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▸  VOFA+ Firewater 协议调试输出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硬件接口分配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Hardware Interfaces — 引脚、波特率与用途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串口通信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64592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外设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引脚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波特率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USART1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PA9 / PA10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115200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printf 调试 (VOFA+)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USART2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PA2 / PA3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115200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JY901S IMU (DMA)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PB10 / PB11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1000000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AX-12A 舵机 (RS485)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/>
              </a:defRPr>
            </a:pPr>
            <a:r>
              <a:t>定时器 / DMA / GPIO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1546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资源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TIM2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100Hz 定时中断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 控制周期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DMA1_CH6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USART2 RX 循环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IMU 数据接收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GPIO PB5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RX485_TX_EN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RS485 方向控制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SysTick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1kHz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系统时钟 HAL_IncTick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软件架构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Software Architecture — 分层设计与模块划分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097280"/>
            <a:ext cx="3657600" cy="640080"/>
          </a:xfrm>
          <a:prstGeom prst="round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143000"/>
            <a:ext cx="36576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400" b="1">
                <a:solidFill>
                  <a:srgbClr val="00D9A6"/>
                </a:solidFill>
                <a:latin typeface="Arial"/>
              </a:defRPr>
            </a:pPr>
            <a:r>
              <a:t>main.c 主循环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737360"/>
            <a:ext cx="25400" cy="36576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73152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Bsp 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560320" cy="10972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5603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/>
              </a:defRPr>
            </a:pPr>
            <a:r>
              <a:t>bsp_jy901s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2860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IMU 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46120"/>
            <a:ext cx="228600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USART2 DMA</a:t>
            </a:r>
            <a:br/>
            <a:r>
              <a:t>+ IDLE 中断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286000"/>
            <a:ext cx="73152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App 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606040"/>
            <a:ext cx="2560320" cy="10972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606040"/>
            <a:ext cx="25603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/>
              </a:defRPr>
            </a:pPr>
            <a:r>
              <a:t>pid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971800"/>
            <a:ext cx="22860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串级 PID 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外环 20Hz</a:t>
            </a:r>
            <a:br/>
            <a:r>
              <a:t>内环 100Hz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86000"/>
            <a:ext cx="731520" cy="256032"/>
          </a:xfrm>
          <a:prstGeom prst="round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Bsp 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06040"/>
            <a:ext cx="2560320" cy="109728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606040"/>
            <a:ext cx="25603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28600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FF9E3D"/>
                </a:solidFill>
                <a:latin typeface="Arial"/>
              </a:defRPr>
            </a:pPr>
            <a:r>
              <a:t>ax12a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971800"/>
            <a:ext cx="22860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舵机驱动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46120"/>
            <a:ext cx="228600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USART3 RS485</a:t>
            </a:r>
            <a:br/>
            <a:r>
              <a:t>1Mbps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1737360"/>
            <a:ext cx="19050" cy="548640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1737360"/>
            <a:ext cx="19050" cy="548640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1737360"/>
            <a:ext cx="19050" cy="548640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8229600" cy="19050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160520"/>
            <a:ext cx="8229600" cy="64008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Arial"/>
              </a:defRPr>
            </a:pPr>
            <a:r>
              <a:t>Drivers 层 — STM32 HAL 库 + CMSIS (CubeMX 自动生成)  |  GPIO / UART / DMA / TIM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051560"/>
            <a:ext cx="18288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工程目录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nsolas"/>
              </a:defRPr>
            </a:pPr>
            <a:r>
              <a:t>Core/     — 主程序 + 中断 + HAL MSP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nsolas"/>
              </a:defRPr>
            </a:pPr>
            <a:r>
              <a:t>App/      — 串级 PID 控制器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nsolas"/>
              </a:defRPr>
            </a:pPr>
            <a:r>
              <a:t>Bsp/      — IMU + 舵机驱动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377439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Consolas"/>
              </a:defRPr>
            </a:pPr>
            <a:r>
              <a:t>Drivers/  — HAL 库 + CMSIS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JY901S IMU 传感器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Nine-Axis Inertial Measurement Unit — 姿态数据采集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41148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模块概述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传感器类型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54480"/>
            <a:ext cx="25603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九轴 IMU (加速度 + 陀螺仪 + 磁力计)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输出数据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01952"/>
            <a:ext cx="25603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姿态角 (roll/pitch/yaw) + 角速度 (wx/wy/wz)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通信接口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249424"/>
            <a:ext cx="25603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USART2, 115200 baud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96896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接收方式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596896"/>
            <a:ext cx="25603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DMA 循环接收 + IDLE 中断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44368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帧长度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44368"/>
            <a:ext cx="25603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11 字节 (帧头 + 类型 + 8B数据 + 校验)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51560"/>
            <a:ext cx="41148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1430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/>
              </a:defRPr>
            </a:pPr>
            <a:r>
              <a:t>协议帧格式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554480"/>
            <a:ext cx="10972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/>
              </a:defRPr>
            </a:pPr>
            <a:r>
              <a:t>帧头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55448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0x55 (固定标识)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901952"/>
            <a:ext cx="10972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/>
              </a:defRPr>
            </a:pPr>
            <a:r>
              <a:t>类型码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901952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0x52=角速度 / 0x53=姿态角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249424"/>
            <a:ext cx="10972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/>
              </a:defRPr>
            </a:pPr>
            <a:r>
              <a:t>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249424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8 字节 (int16, 小端序)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596896"/>
            <a:ext cx="10972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/>
              </a:defRPr>
            </a:pPr>
            <a:r>
              <a:t>校验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596896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1 字节校验和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944368"/>
            <a:ext cx="10972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FF9E3D"/>
                </a:solidFill>
                <a:latin typeface="Arial"/>
              </a:defRPr>
            </a:pPr>
            <a:r>
              <a:t>量程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944368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角速度 ±2000°/s / 角度 ±180°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66160"/>
            <a:ext cx="8229600" cy="1280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1188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数据接收流程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13632"/>
            <a:ext cx="12801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/>
              </a:defRPr>
            </a:pPr>
            <a:r>
              <a:t>USART2 DMA</a:t>
            </a:r>
            <a:br/>
            <a:r>
              <a:t>循环接收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297680"/>
            <a:ext cx="128016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dmaBuf[256]</a:t>
            </a:r>
            <a:br/>
            <a:r>
              <a:t>环形缓冲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4248" y="4114800"/>
            <a:ext cx="228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21992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67712" y="3913632"/>
            <a:ext cx="12801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/>
              </a:defRPr>
            </a:pPr>
            <a:r>
              <a:t>IDLE 中断</a:t>
            </a:r>
            <a:br/>
            <a:r>
              <a:t>记录写位置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4297680"/>
            <a:ext cx="128016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dmaPos =</a:t>
            </a:r>
            <a:br/>
            <a:r>
              <a:t>BUF_SIZE - CNDTR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114800"/>
            <a:ext cx="228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49624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95344" y="3913632"/>
            <a:ext cx="12801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/>
              </a:defRPr>
            </a:pPr>
            <a:r>
              <a:t>主循环 Poll</a:t>
            </a:r>
            <a:br/>
            <a:r>
              <a:t>逐字节消费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95344" y="4297680"/>
            <a:ext cx="128016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processByte()</a:t>
            </a:r>
            <a:br/>
            <a:r>
              <a:t>状态机解析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9512" y="4114800"/>
            <a:ext cx="228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77256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3913632"/>
            <a:ext cx="12801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/>
              </a:defRPr>
            </a:pPr>
            <a:r>
              <a:t>校验通过</a:t>
            </a:r>
            <a:br/>
            <a:r>
              <a:t>更新数据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22976" y="4297680"/>
            <a:ext cx="128016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wx/wy/wz</a:t>
            </a:r>
            <a:br/>
            <a:r>
              <a:t>pitch/roll/yaw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67144" y="4114800"/>
            <a:ext cx="228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04888" y="3886200"/>
            <a:ext cx="1371600" cy="822960"/>
          </a:xfrm>
          <a:prstGeom prst="round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50608" y="3913632"/>
            <a:ext cx="12801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00D9A6"/>
                </a:solidFill>
                <a:latin typeface="Arial"/>
              </a:defRPr>
            </a:pPr>
            <a:r>
              <a:t>置位</a:t>
            </a:r>
            <a:br/>
            <a:r>
              <a:t>dataReady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50608" y="4297680"/>
            <a:ext cx="128016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主循环读取</a:t>
            </a:r>
            <a:br/>
            <a:r>
              <a:t>驱动 PID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IMU 解析状态机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JY901S State Machine — processByte() 单字节解析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45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46304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1">
                <a:solidFill>
                  <a:srgbClr val="58A6FF"/>
                </a:solidFill>
                <a:latin typeface="Arial"/>
              </a:defRPr>
            </a:pPr>
            <a:r>
              <a:t>WAIT_HEADER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46304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/>
              </a:defRPr>
            </a:pPr>
            <a:r>
              <a:t>等待帧头</a:t>
            </a:r>
            <a:br/>
            <a:r>
              <a:t>(0x55)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645920"/>
            <a:ext cx="16459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737360"/>
            <a:ext cx="146304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1">
                <a:solidFill>
                  <a:srgbClr val="00D9A6"/>
                </a:solidFill>
                <a:latin typeface="Arial"/>
              </a:defRPr>
            </a:pPr>
            <a:r>
              <a:t>WAIT_TYPE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57400"/>
            <a:ext cx="146304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/>
              </a:defRPr>
            </a:pPr>
            <a:r>
              <a:t>等待类型码</a:t>
            </a:r>
            <a:br/>
            <a:r>
              <a:t>(0x52 / 0x53)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645920"/>
            <a:ext cx="16459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737360"/>
            <a:ext cx="146304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1">
                <a:solidFill>
                  <a:srgbClr val="FF9E3D"/>
                </a:solidFill>
                <a:latin typeface="Arial"/>
              </a:defRPr>
            </a:pPr>
            <a:r>
              <a:t>RECEIVING</a:t>
            </a:r>
            <a:br/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57400"/>
            <a:ext cx="146304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/>
              </a:defRPr>
            </a:pPr>
            <a:r>
              <a:t>接收 8 字节</a:t>
            </a:r>
            <a:br/>
            <a:r>
              <a:t>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645920"/>
            <a:ext cx="1645920" cy="914400"/>
          </a:xfrm>
          <a:prstGeom prst="roundRect">
            <a:avLst/>
          </a:prstGeom>
          <a:solidFill>
            <a:srgbClr val="1C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645920"/>
            <a:ext cx="1645920" cy="25400"/>
          </a:xfrm>
          <a:prstGeom prst="rect">
            <a:avLst/>
          </a:prstGeom>
          <a:solidFill>
            <a:srgbClr val="CC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37360"/>
            <a:ext cx="146304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1">
                <a:solidFill>
                  <a:srgbClr val="CC8844"/>
                </a:solidFill>
                <a:latin typeface="Arial"/>
              </a:defRPr>
            </a:pPr>
            <a:r>
              <a:t>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57400"/>
            <a:ext cx="146304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Arial"/>
              </a:defRPr>
            </a:pPr>
            <a:r>
              <a:t>校验通过?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1783080"/>
            <a:ext cx="36576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148840"/>
            <a:ext cx="73152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/>
              </a:defRPr>
            </a:pPr>
            <a:r>
              <a:t>0x55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783080"/>
            <a:ext cx="36576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148840"/>
            <a:ext cx="73152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/>
              </a:defRPr>
            </a:pPr>
            <a:r>
              <a:t>0x52/53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83080"/>
            <a:ext cx="36576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800" b="0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48840"/>
            <a:ext cx="73152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/>
              </a:defRPr>
            </a:pPr>
            <a:r>
              <a:t>帧满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2834640"/>
            <a:ext cx="1645920" cy="548640"/>
          </a:xfrm>
          <a:prstGeom prst="round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880360"/>
            <a:ext cx="146304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00D9A6"/>
                </a:solidFill>
                <a:latin typeface="Arial"/>
              </a:defRPr>
            </a:pPr>
            <a:r>
              <a:t>通过 → 解析 int16</a:t>
            </a:r>
            <a:br/>
            <a:r>
              <a:t>更新输出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520440"/>
            <a:ext cx="1645920" cy="457200"/>
          </a:xfrm>
          <a:prstGeom prst="roundRect">
            <a:avLst/>
          </a:prstGeom>
          <a:solidFill>
            <a:srgbClr val="2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566160"/>
            <a:ext cx="146304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E94560"/>
                </a:solidFill>
                <a:latin typeface="Arial"/>
              </a:defRPr>
            </a:pPr>
            <a:r>
              <a:t>失败 → 丢弃, 重置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743200"/>
            <a:ext cx="59436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2834640"/>
            <a:ext cx="45720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/>
              </a:defRPr>
            </a:pPr>
            <a:r>
              <a:t>IDLE 中断处理流程 (jy901sOnIdleIrq)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154680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① 暂停 DMA 通道 (__HAL_DMA_DISABLE)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92424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② 清除 IDLE 标志 (读 SR + DR)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30168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③ 记录 DMA 写位置: dmaPos = BUF_SIZE - CNDTR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867912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④ 恢复 DMA 通道 (__HAL_DMA_ENABLE)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105656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⑤ 置位 idleFlag = 1 (通知主循环)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581144"/>
            <a:ext cx="548640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Arial"/>
              </a:defRPr>
            </a:pPr>
            <a:r>
              <a:t>关键: ISR 仅记录位置, 主循环消费数据, 无锁设计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AX-12A 舵机驱动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Dynamixel Protocol 1.0 — RS485 半双工通信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/>
              </a:defRPr>
            </a:pPr>
            <a:r>
              <a:t>模块概述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972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/>
              </a:defRPr>
            </a:pPr>
            <a:r>
              <a:t>通信总线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237744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USART3 + RS485 (MAX485)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10972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/>
              </a:defRPr>
            </a:pPr>
            <a:r>
              <a:t>波特率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3080"/>
            <a:ext cx="237744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1,000,000 bps (1Mbps)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0972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/>
              </a:defRPr>
            </a:pPr>
            <a:r>
              <a:t>方向控制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57400"/>
            <a:ext cx="237744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GPIO PB5 (高=发送 / 低=接收)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31720"/>
            <a:ext cx="10972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/>
              </a:defRPr>
            </a:pPr>
            <a:r>
              <a:t>舵机数量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31720"/>
            <a:ext cx="237744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3 个 (Pitch ID=1, Roll ID=2, Yaw ID=3)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39"/>
            <a:ext cx="10972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FF9E3D"/>
                </a:solidFill>
                <a:latin typeface="Arial"/>
              </a:defRPr>
            </a:pPr>
            <a:r>
              <a:t>位置范围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606039"/>
            <a:ext cx="237744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0~1023 (对应 0°~300°)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051560"/>
            <a:ext cx="429768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/>
              </a:defRPr>
            </a:pPr>
            <a:r>
              <a:t>Dynamixel 指令包格式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5087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帧头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5087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0xFF 0xFF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7373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7373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舵机 ID (1/2/3)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659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长度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659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参数长度 + 3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1945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指令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1945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0x03 (WRITE)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4231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4231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寄存器地址 + 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651760"/>
            <a:ext cx="91440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校验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651760"/>
            <a:ext cx="292608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Consolas"/>
              </a:defRPr>
            </a:pPr>
            <a:r>
              <a:t>~(ID+Len+Inst+Params)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108960"/>
            <a:ext cx="8229600" cy="17373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FF9E3D"/>
                </a:solidFill>
                <a:latin typeface="Arial"/>
              </a:defRPr>
            </a:pPr>
            <a:r>
              <a:t>sendPacket() 发送流程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清除 ORE</a:t>
            </a:r>
            <a:br/>
            <a:r>
              <a:t>溢出标志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读 SR + 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9928" y="370332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202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202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659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RS485 发送</a:t>
            </a:r>
            <a:br/>
            <a:r>
              <a:t>方向切换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PB5 = 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81528" y="370332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阻塞发送</a:t>
            </a:r>
            <a:br/>
            <a:r>
              <a:t>指令包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HAL_UART_</a:t>
            </a:r>
            <a:br/>
            <a:r>
              <a:t>Transmit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8" y="370332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634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等待 TC</a:t>
            </a:r>
            <a:br/>
            <a:r>
              <a:t>发送完成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100ms 超时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24728" y="370332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350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切回接收</a:t>
            </a:r>
            <a:br/>
            <a:r>
              <a:t>模式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PB5 = 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96328" y="370332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FF9E3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06640" y="3520440"/>
            <a:ext cx="1143000" cy="822960"/>
          </a:xfrm>
          <a:prstGeom prst="roundRect">
            <a:avLst/>
          </a:prstGeom>
          <a:solidFill>
            <a:srgbClr val="20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06640" y="3520440"/>
            <a:ext cx="114300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52360" y="3566160"/>
            <a:ext cx="105156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1">
                <a:solidFill>
                  <a:srgbClr val="FF9E3D"/>
                </a:solidFill>
                <a:latin typeface="Arial"/>
              </a:defRPr>
            </a:pPr>
            <a:r>
              <a:t>延时稳定</a:t>
            </a:r>
            <a:br/>
            <a:r>
              <a:t>~20μs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52360" y="3977639"/>
            <a:ext cx="10515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MAX485</a:t>
            </a:r>
            <a:br/>
            <a:r>
              <a:t>方向切换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串级 PID 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Cascaded PID Controller — 外环角度 + 内环角速度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384048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84048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/>
              </a:defRPr>
            </a:pPr>
            <a:r>
              <a:t>外环 — 角度控制 (20Hz)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4747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输入: IMU 姿态角 (pitch / roll / yaw)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73936"/>
            <a:ext cx="34747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误差: targetAngle − currentAngle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1"/>
            <a:ext cx="34747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死区: 0.5° (消除微小振荡)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34747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积分分离: 误差 &gt; 20° 时停止积分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32304"/>
            <a:ext cx="34747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输出限幅: ±120°/s (目标角速度)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097280"/>
            <a:ext cx="429768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97280"/>
            <a:ext cx="429768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18872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/>
              </a:defRPr>
            </a:pPr>
            <a:r>
              <a:t>内环 — 角速度控制 (100Hz)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554480"/>
            <a:ext cx="39319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输入: IMU 角速度 (wx / wy / wz)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73936"/>
            <a:ext cx="39319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滤波: PI项低通15Hz + D项巴特沃斯53Hz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993391"/>
            <a:ext cx="39319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死区: 1.0°/s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12848"/>
            <a:ext cx="39319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积分限幅: ±100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432304"/>
            <a:ext cx="3931920" cy="201168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输出限幅: ±60° (舵机修正角度)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37360"/>
            <a:ext cx="36576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2000" b="1">
                <a:solidFill>
                  <a:srgbClr val="00D9A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057400"/>
            <a:ext cx="640080" cy="3657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800" b="0">
                <a:solidFill>
                  <a:srgbClr val="8B949E"/>
                </a:solidFill>
                <a:latin typeface="Arial"/>
              </a:defRPr>
            </a:pPr>
            <a:r>
              <a:t>目标</a:t>
            </a:r>
            <a:br/>
            <a:r>
              <a:t>角速度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926080"/>
            <a:ext cx="822960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00D9A6"/>
                </a:solidFill>
                <a:latin typeface="Arial"/>
              </a:defRPr>
            </a:pPr>
            <a:r>
              <a:t>控制数据流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383280"/>
            <a:ext cx="11887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目标角度</a:t>
            </a:r>
            <a:br/>
            <a:r>
              <a:t>targetAngle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383280"/>
            <a:ext cx="11887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外环 PID</a:t>
            </a:r>
            <a:br/>
            <a:r>
              <a:t>20Hz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383280"/>
            <a:ext cx="11887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00D9A6"/>
                </a:solidFill>
                <a:latin typeface="Arial"/>
              </a:defRPr>
            </a:pPr>
            <a:r>
              <a:t>目标角速度</a:t>
            </a:r>
            <a:br/>
            <a:r>
              <a:t>outVel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3383280"/>
            <a:ext cx="11887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00D9A6"/>
                </a:solidFill>
                <a:latin typeface="Arial"/>
              </a:defRPr>
            </a:pPr>
            <a:r>
              <a:t>内环 PID</a:t>
            </a:r>
            <a:br/>
            <a:r>
              <a:t>100Hz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3383280"/>
            <a:ext cx="11887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FF9E3D"/>
                </a:solidFill>
                <a:latin typeface="Arial"/>
              </a:defRPr>
            </a:pPr>
            <a:r>
              <a:t>舵机修正量</a:t>
            </a:r>
            <a:br/>
            <a:r>
              <a:t>deltaPos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6640" y="3383280"/>
            <a:ext cx="1188720" cy="685800"/>
          </a:xfrm>
          <a:prstGeom prst="roundRect">
            <a:avLst/>
          </a:prstGeom>
          <a:solidFill>
            <a:srgbClr val="0F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06640" y="3383280"/>
            <a:ext cx="118872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3429000"/>
            <a:ext cx="1097280" cy="59436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FF9E3D"/>
                </a:solidFill>
                <a:latin typeface="Arial"/>
              </a:defRPr>
            </a:pPr>
            <a:r>
              <a:t>AX-12A</a:t>
            </a:r>
            <a:br/>
            <a:r>
              <a:t>舵机输出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5648" y="3566160"/>
            <a:ext cx="1828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27248" y="3566160"/>
            <a:ext cx="1828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566160"/>
            <a:ext cx="1828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3566160"/>
            <a:ext cx="1828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3566160"/>
            <a:ext cx="1828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200" b="0">
                <a:solidFill>
                  <a:srgbClr val="484F5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0240" y="4251960"/>
            <a:ext cx="5120640" cy="45720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80" y="4297680"/>
            <a:ext cx="4937760" cy="3200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0">
                <a:solidFill>
                  <a:srgbClr val="00D9A6"/>
                </a:solidFill>
                <a:latin typeface="Arial"/>
              </a:defRPr>
            </a:pPr>
            <a:r>
              <a:t>IMU 反馈: 姿态角 → 外环  |  角速度 → 内环  (100Hz 周期)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PID 调参结果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Tuned Parameters — 三轴实际调试参数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097280"/>
                <a:gridCol w="109728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Pitch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Roll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Yaw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innerKp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0.016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0.015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内环比例增益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innerKi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内环积分 (当前关闭)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innerKd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内环微分 (当前关闭)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innerOutputMax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内环输出限幅 (度)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outerKp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外环比例增益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outerKi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外环积分增益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outerKd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外环微分增益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关键控制宏定义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476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宏名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PID_TS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0.01s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内环周期 (100Hz)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PID_OUTER_DT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0.05s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外环周期 (20Hz)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PID_GYRO_FC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15.0Hz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PI项低通截止频率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PID_D_FC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53.0Hz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D项巴特沃斯截止频率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PID_OUT_DELTA_MAX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15步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单次增量限幅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PID_POS_SCALE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1024/300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度→舵机步数换算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OV7725 摄像头模块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ATK-MC7725F — 图像采集与 FIFO 缓冲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931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/>
              </a:defRPr>
            </a:pPr>
            <a:r>
              <a:t>模块概述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图像传感器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508760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OV7725 (VGA/QVGA)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46504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FIFO 芯片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46504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AL422B (384KB 帧缓冲)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84248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通信协议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984248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SCCB (类 I2C) 配置寄存器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21991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数据接口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221991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8-bit 并行 (GPIOC[7:0])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459736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帧同步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459736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VSYNC 上升沿中断 (PA8)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11887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697480"/>
            <a:ext cx="22860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RGB565 (16-bit/pixel)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051560"/>
            <a:ext cx="4297680" cy="20116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051560"/>
            <a:ext cx="4297680" cy="25400"/>
          </a:xfrm>
          <a:prstGeom prst="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14300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FF9E3D"/>
                </a:solidFill>
                <a:latin typeface="Arial"/>
              </a:defRPr>
            </a:pPr>
            <a:r>
              <a:t>控制信号引脚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508760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WRST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508760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GPIOD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508760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写指针复位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709928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RRST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1709928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GPIOG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709928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读指针复位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911095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OE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1911095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GPIOG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911095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输出使能(低有效)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112264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RCLK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2112264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GPIOB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112264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读时钟(上升沿)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313432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WEN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2313432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2313432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写使能(高有效)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514600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SCCB SCL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2514600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GPIOD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514600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时钟线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715768"/>
            <a:ext cx="100584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1">
                <a:solidFill>
                  <a:srgbClr val="FF9E3D"/>
                </a:solidFill>
                <a:latin typeface="Consolas"/>
              </a:defRPr>
            </a:pPr>
            <a:r>
              <a:t>SCCB SDA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715768"/>
            <a:ext cx="1188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E6EDF3"/>
                </a:solidFill>
                <a:latin typeface="Consolas"/>
              </a:defRPr>
            </a:pPr>
            <a:r>
              <a:t>GPIOG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715768"/>
            <a:ext cx="16459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Arial"/>
              </a:defRPr>
            </a:pPr>
            <a:r>
              <a:t>数据线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246120"/>
            <a:ext cx="8229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29184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Arial"/>
              </a:defRPr>
            </a:pPr>
            <a:r>
              <a:t>图像数据流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657600"/>
            <a:ext cx="118872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OV7725</a:t>
            </a:r>
            <a:br/>
            <a:r>
              <a:t>传感器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0690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原始像素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7088" y="379476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9456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3657600"/>
            <a:ext cx="118872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AL422B</a:t>
            </a:r>
            <a:br/>
            <a:r>
              <a:t>FIFO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40280" y="40690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384KB 缓冲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79476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4048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86200" y="3657600"/>
            <a:ext cx="118872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GPIOC</a:t>
            </a:r>
            <a:br/>
            <a:r>
              <a:t>[7:0]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0690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8-bit 并行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8928" y="379476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3657600"/>
            <a:ext cx="118872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get_frame()</a:t>
            </a:r>
            <a:br/>
            <a:r>
              <a:t>函数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2120" y="40690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RGB565 组装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4848" y="3794760"/>
            <a:ext cx="182880" cy="2286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1100" b="0">
                <a:solidFill>
                  <a:srgbClr val="58A6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132320" y="3611880"/>
            <a:ext cx="1280160" cy="777240"/>
          </a:xfrm>
          <a:prstGeom prst="roundRect">
            <a:avLst/>
          </a:prstGeom>
          <a:solidFill>
            <a:srgbClr val="0A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2320" y="3611880"/>
            <a:ext cx="128016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78040" y="3657600"/>
            <a:ext cx="1188720" cy="4114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900" b="1">
                <a:solidFill>
                  <a:srgbClr val="58A6FF"/>
                </a:solidFill>
                <a:latin typeface="Arial"/>
              </a:defRPr>
            </a:pPr>
            <a:r>
              <a:t>LCD GRAM</a:t>
            </a:r>
            <a:br/>
            <a:r>
              <a:t>FSMC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4069080"/>
            <a:ext cx="118872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ctr">
              <a:defRPr sz="700" b="0">
                <a:solidFill>
                  <a:srgbClr val="8B949E"/>
                </a:solidFill>
                <a:latin typeface="Arial"/>
              </a:defRPr>
            </a:pPr>
            <a:r>
              <a:t>实时显示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FIFO 帧缓冲机制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AL422B Frame Buffer — 写入/读取/状态管理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93192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93192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3200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Arial"/>
              </a:defRPr>
            </a:pPr>
            <a:r>
              <a:t>写入流程 (VSYNC 中断触发)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▸ VSYNC 上升沿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54480"/>
            <a:ext cx="16459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一帧开始信号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▸ 上一帧已处理?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10512"/>
            <a:ext cx="16459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检查 handle_flag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66543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▸ 是 → 复位写指针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066543"/>
            <a:ext cx="16459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WRST↓↑ + WEN↑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22576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▸ 否 → 丢弃本帧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22576"/>
            <a:ext cx="16459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WEN↓ (防覆盖)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78608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58A6FF"/>
                </a:solidFill>
                <a:latin typeface="Arial"/>
              </a:defRPr>
            </a:pPr>
            <a:r>
              <a:t>▸ OV7725 自动写入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578608"/>
            <a:ext cx="164592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像素数据→FIFO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051560"/>
            <a:ext cx="4297680" cy="19202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429768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1143000"/>
            <a:ext cx="3200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200" b="1">
                <a:solidFill>
                  <a:srgbClr val="00D9A6"/>
                </a:solidFill>
                <a:latin typeface="Arial"/>
              </a:defRPr>
            </a:pPr>
            <a:r>
              <a:t>读取流程 (主循环轮询)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554480"/>
            <a:ext cx="20116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/>
              </a:defRPr>
            </a:pPr>
            <a:r>
              <a:t>▸ 检查 handle_flag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554480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== DONE → 无新帧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810512"/>
            <a:ext cx="20116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/>
              </a:defRPr>
            </a:pPr>
            <a:r>
              <a:t>▸ 关中断, 清标志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810512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__disable_irq 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066543"/>
            <a:ext cx="20116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/>
              </a:defRPr>
            </a:pPr>
            <a:r>
              <a:t>▸ 复位读指针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66543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RRST↓RCLK↑↓RRST↑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322576"/>
            <a:ext cx="20116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/>
              </a:defRPr>
            </a:pPr>
            <a:r>
              <a:t>▸ 双字节读取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22576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高8位 + 低8位 → RGB565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578608"/>
            <a:ext cx="20116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1">
                <a:solidFill>
                  <a:srgbClr val="00D9A6"/>
                </a:solidFill>
                <a:latin typeface="Arial"/>
              </a:defRPr>
            </a:pPr>
            <a:r>
              <a:t>▸ 写入 LCD 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578608"/>
            <a:ext cx="182880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Arial"/>
              </a:defRPr>
            </a:pPr>
            <a:r>
              <a:t>FSMC 地址映射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200400"/>
            <a:ext cx="82296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300" b="1">
                <a:solidFill>
                  <a:srgbClr val="FF9E3D"/>
                </a:solidFill>
                <a:latin typeface="Arial"/>
              </a:defRPr>
            </a:pPr>
            <a:r>
              <a:t>状态管理与 IO 优化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566160"/>
            <a:ext cx="3657600" cy="1097280"/>
          </a:xfrm>
          <a:prstGeom prst="roundRect">
            <a:avLst/>
          </a:prstGeom>
          <a:solidFill>
            <a:srgbClr val="0F17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39312"/>
            <a:ext cx="3474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onsolas"/>
              </a:defRPr>
            </a:pPr>
            <a:r>
              <a:t>volatile struct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840480"/>
            <a:ext cx="3474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00D9A6"/>
                </a:solidFill>
                <a:latin typeface="Consolas"/>
              </a:defRPr>
            </a:pPr>
            <a:r>
              <a:t>  output.width/height  // 当前分辨率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041648"/>
            <a:ext cx="3474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58A6FF"/>
                </a:solidFill>
                <a:latin typeface="Consolas"/>
              </a:defRPr>
            </a:pPr>
            <a:r>
              <a:t>  frame.handle_flag    // DONE / PEND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242816"/>
            <a:ext cx="3474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FF9E3D"/>
                </a:solidFill>
                <a:latin typeface="Consolas"/>
              </a:defRPr>
            </a:pPr>
            <a:r>
              <a:t>  frame.count          // 已读帧计数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443984"/>
            <a:ext cx="3474720" cy="18288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Consolas"/>
              </a:defRPr>
            </a:pPr>
            <a:r>
              <a:t>} g_atk_mc7725f_sta;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3566160"/>
            <a:ext cx="18288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200" b="1">
                <a:solidFill>
                  <a:srgbClr val="FF9E3D"/>
                </a:solidFill>
                <a:latin typeface="Arial"/>
              </a:defRPr>
            </a:pPr>
            <a:r>
              <a:t>性能优化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3840480"/>
            <a:ext cx="38404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8-bit 端口一次读取 (IDR &amp; 0x00FF)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4078224"/>
            <a:ext cx="38404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BSRR/BRR 寄存器替代 HAL 函数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315968"/>
            <a:ext cx="38404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volatile 变量缓存到局部变量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4553712"/>
            <a:ext cx="3840480" cy="219456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Arial"/>
              </a:defRPr>
            </a:pPr>
            <a:r>
              <a:t>▸ 临界区保护 (__disable_irq)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400" b="1">
                <a:solidFill>
                  <a:srgbClr val="E6EDF3"/>
                </a:solidFill>
                <a:latin typeface="Arial"/>
              </a:defRPr>
            </a:pPr>
            <a:r>
              <a:t>系统中断与调度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Arial"/>
              </a:defRPr>
            </a:pPr>
            <a:r>
              <a:t>Interrupt System — 中断源、频率与处理职责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51560"/>
          <a:ext cx="8229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468880"/>
                <a:gridCol w="2743200"/>
              </a:tblGrid>
              <a:tr h="27431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中断源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频率/触发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处理函数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D9A6"/>
                          </a:solidFill>
                          <a:latin typeface="Arial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TIM2_UP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100Hz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TIM2_IRQHandler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g_pidFlag++ (仅置标志)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USART2 IDLE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事件驱动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jy901sOnIdleIrq()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记录 DMA 写位置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DMA1_CH6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HAL_DMA_IRQHandler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USART2 RX DMA 管理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SysTick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1kHz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SysTick_Handler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HAL_IncTick() 系统时钟</a:t>
                      </a:r>
                    </a:p>
                  </a:txBody>
                  <a:tcPr>
                    <a:solidFill>
                      <a:srgbClr val="151C25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EXTI9_5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VSYNC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VSYNC_INT_IRQHandler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E6EDF3"/>
                          </a:solidFill>
                          <a:latin typeface="Arial"/>
                        </a:defRPr>
                      </a:pPr>
                      <a:r>
                        <a:t>摄像头帧同步</a:t>
                      </a:r>
                    </a:p>
                  </a:txBody>
                  <a:tcPr>
                    <a:solidFill>
                      <a:srgbClr val="10171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063240"/>
            <a:ext cx="82296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36576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主循环调度策略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1188720" cy="256032"/>
          </a:xfrm>
          <a:prstGeom prst="round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100Hz (每拍)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474720"/>
            <a:ext cx="5486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PID 内环 + IMU 数据消费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59"/>
            <a:ext cx="118872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20Hz (每5拍)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94759"/>
            <a:ext cx="5486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PID 外环 (角度→角速度)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1280160" cy="256032"/>
          </a:xfrm>
          <a:prstGeom prst="roundRect">
            <a:avLst/>
          </a:prstGeom>
          <a:solidFill>
            <a:srgbClr val="FF9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10Hz (每10拍)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114800"/>
            <a:ext cx="5486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VOFA+ 调试输出 (printf)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640080" cy="256032"/>
          </a:xfrm>
          <a:prstGeom prst="round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 a:anchor="ctr">
          <a:bodyPr rtlCol="0" anchor="ctr" wrap="none"/>
          <a:lstStyle/>
          <a:p>
            <a:pPr algn="ctr">
              <a:defRPr sz="900" b="1">
                <a:solidFill>
                  <a:srgbClr val="0D1117"/>
                </a:solidFill>
                <a:latin typeface="Arial"/>
              </a:defRPr>
            </a:pPr>
            <a:r>
              <a:t>事件驱动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434840"/>
            <a:ext cx="54864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Arial"/>
              </a:defRPr>
            </a:pPr>
            <a:r>
              <a:t>IMU IDLE 中断 → 记录 DMA 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50800" cy="109728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7315200" cy="45720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2800" b="1">
                <a:solidFill>
                  <a:srgbClr val="00D9A6"/>
                </a:solidFill>
                <a:latin typeface="Arial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7315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Arial"/>
              </a:defRPr>
            </a:pPr>
            <a:r>
              <a:t>Summary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931920" cy="2834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931920" cy="25400"/>
          </a:xfrm>
          <a:prstGeom prst="rect">
            <a:avLst/>
          </a:prstGeom>
          <a:solidFill>
            <a:srgbClr val="00D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00D9A6"/>
                </a:solidFill>
                <a:latin typeface="Arial"/>
              </a:defRPr>
            </a:pPr>
            <a:r>
              <a:t>已实现功能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三轴 (Pitch/Roll) PID 稳定控制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JY901S IMU DMA 高效数据接收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AX-12A RS485 半双工舵机通信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4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串级 PID 控制架构 (外环+内环)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OV7725 图像采集与 LCD 实时显示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VOFA+ Firewater 协议调试输出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24528"/>
            <a:ext cx="347472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✓ 模块化分层软件架构 (BSP/App)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011680"/>
            <a:ext cx="4297680" cy="2834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011680"/>
            <a:ext cx="429768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03120"/>
            <a:ext cx="274320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Arial"/>
              </a:defRPr>
            </a:pPr>
            <a:r>
              <a:t>后续优化方向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68880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Yaw 轴 PID 启用与调参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761488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摄像头集成: 视觉跟踪/目标识别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054096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IMU 数据融合算法优化 (互补/卡尔曼)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346704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舵机同步写入 (SYNC_WRITE 指令)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639312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蓝牙/WiFi 远程控制接口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遥控器输入集成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4528"/>
            <a:ext cx="3840480" cy="256032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Arial"/>
              </a:defRPr>
            </a:pPr>
            <a:r>
              <a:t>→ PCB 集成设计 (减小体积)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 a:anchor="t">
          <a:bodyPr wrap="square">
            <a:spAutoFit/>
          </a:bodyPr>
          <a:lstStyle/>
          <a:p>
            <a:pPr algn="r">
              <a:defRPr sz="800" b="0">
                <a:solidFill>
                  <a:srgbClr val="484F58"/>
                </a:solidFill>
                <a:latin typeface="Arial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